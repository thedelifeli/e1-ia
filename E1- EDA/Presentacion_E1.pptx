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Presentamos el trabajo de la Evaluación 1 sobre calidad y preparación de datos, usando el dataset de rendimiento académico de una institución de educación superior. En los próximos minutos mostraremos el diagnóstico de calidad, el análisis exploratorio, las decisiones de tratamiento y el estado final del dataset limpio.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dataset original tiene 5100 registros con información demográfica, hábitos de estudio y la nota final FinalGrade. Nuestro objetivo fue diagnosticar la calidad, explorar los datos, tratarlos con un pipeline reproducible en scikit-learn y exportar un dataset final limpio.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dataset tiene 5100 registros y 11 variables. StudentID es el identificador único y FinalGrade es la variable objetivo, en escala 1 a 10. Hay 7 variables numéricas relacionadas con hábitos y antecedentes, y 2 categóricas: si el estudiante tiene beca y su programa académico.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diagnóstico encontramos cuatro tipos de problemas: 1335 celdas con valores faltantes, ninguna variable sobre 5%; 100 registros duplicados exactos; 63 inconsistencias numéricas fuera de dominio, más variantes de escritura en las categóricas; y valores atípicos que llegan hasta 2.94% en InternetHours. En las próximas diapositivas detallamos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variable supera 5% de faltantes, así que decidimos imputar: mediana en numéricas por ser robusta a outliers, y moda en categóricas. Además encontramos 100 registros exactamente duplicados, un 2%, identificados por StudentID repetido; esos se eliminan porque no aportan información nueva y distorsionan los promedios.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Detectamos dos tipos de inconsistencia. En las categóricas, 71 registros con la misma categoría escrita distinto, que se normalizan a un valor canónico. En las numéricas, 63 valores fuera del dominio posible: asistencia sobre 100%, horas de sueño o internet fuera de 0 a 24, y 4 notas finales inválidas. Las features inválidas pasan a NaN para imputarse, pero el target inválido nunca se imputa: esas filas se eliminan.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Usando la regla del rango intercuartílico encontramos atípicos en todas las variables numéricas, entre 0.35% y 2.94%, siendo InternetHours la más afectada. Distinguimos entre valores imposibles, que ya tratamos como inconsistencias, y extremos legítimos, que son datos reales. Por eso no los eliminamos: aplicamos winsorizing por percentiles 1 y 99 en el dataset legible, y un escalador robusto en la matriz que alimenta al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set depurado de 4996 registros, las variables numéricas muestran distribuciones aproximadamente simétricas. FinalGrade se concentra alrededor de 4.2 en la escala de 1 a 10. En las categóricas, predominan los estudiantes sin beca, cerca de dos tercios, y el programa más frecuente es Ingeniería Informática.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matriz de correlación muestra que AssignmentsCompleted, PreviousGPA y Attendance son las variables más asociadas a FinalGrade, con correlaciones entre 0.62 y 0.67. StudyHours aporta de forma moderada, 0.49. En cambio, SleepHours, InternetHours y Age prácticamente no correlacionan con la nota.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pregunta: los estudiantes con beca promedian 4.37 contra 4.08 de quienes no tienen beca, una diferencia de 0.29 puntos, estadísticamente significativa. Segunda pregunta: el programa con mejor promedio es Administración, con 4.23, y el más bajo es Contador Auditor, con 4.05; una diferencia de 0.19 puntos, significativa pero pequeña.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Tercera pregunta: existe una relación positiva moderada entre horas de estudio y nota final, con un Pearson de 0.485. Cuarta pregunta: la asistencia tiene una relación aún más fuerte, 0.622; los estudiantes con asistencia alta promedian 4.85 contra 3.47 en asistencia baja, una diferencia de 1.38 puntos.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síntesis: primero, el esfuerzo académico es lo que más explica el rendimiento. Segundo, los factores demográficos y de estilo de vida casi no influyen. Y tercero, la beca y el programa importan, pero su efecto es pequeño comparado con el esfuerzo del propio estudiante.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decisión responde al diagnóstico: duplicados y target inválido se eliminan; inconsistencias se normalizan o pasan a NaN; los faltantes se imputan con mediana o moda; y los outliers se tratan con winsorizing y un escalador robusto. Todo esto se implementa con un ColumnTransformer de scikit-learn: un pipeline para las numéricas con imputación y RobustScaler, y otro para las categóricas con imputación y One-Hot Encoding. FinalGrade se mantiene siempre separado como variable objetivo.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Después del tratamiento, el dataset pasó de 5100 a 4996 registros, sin valores faltantes, sin duplicados y sin inconsistencias; 435 valores extremos fueron acotados por winsorizing en vez de eliminados. El resultado se exporta como rendimiento_academico_limpio.csv, y todo el proceso es reproducible desde el dataset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la presentación agradeciendo y abriendo espacio para preguntas del profesor o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E8A33D">
              <a:alpha val="12000"/>
            </a:srgbClr>
          </a:solidFill>
          <a:ln/>
        </p:spPr>
      </p:sp>
      <p:sp>
        <p:nvSpPr>
          <p:cNvPr id="3" name="Shape 1"/>
          <p:cNvSpPr/>
          <p:nvPr/>
        </p:nvSpPr>
        <p:spPr>
          <a:xfrm>
            <a:off x="-2194560" y="4572000"/>
            <a:ext cx="4754880" cy="4754880"/>
          </a:xfrm>
          <a:prstGeom prst="ellipse">
            <a:avLst/>
          </a:prstGeom>
          <a:solidFill>
            <a:srgbClr val="3E7CB1">
              <a:alpha val="22000"/>
            </a:srgbClr>
          </a:solidFill>
          <a:ln/>
        </p:spPr>
      </p:sp>
      <p:sp>
        <p:nvSpPr>
          <p:cNvPr id="4" name="Text 2"/>
          <p:cNvSpPr txBox="1"/>
          <p:nvPr/>
        </p:nvSpPr>
        <p:spPr>
          <a:xfrm>
            <a:off x="822960" y="1874520"/>
            <a:ext cx="9144000" cy="365760"/>
          </a:xfrm>
          <a:prstGeom prst="rect">
            <a:avLst/>
          </a:prstGeom>
          <a:noFill/>
          <a:ln/>
        </p:spPr>
        <p:txBody>
          <a:bodyPr wrap="square" lIns="0" tIns="0" rIns="0" bIns="0"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EVALUACIÓN 1  ·  CALIDAD Y PREPARACIÓN DE DATOS</a:t>
            </a:r>
            <a:endParaRPr lang="en-US" sz="1300" dirty="0"/>
          </a:p>
        </p:txBody>
      </p:sp>
      <p:sp>
        <p:nvSpPr>
          <p:cNvPr id="5" name="Text 3"/>
          <p:cNvSpPr txBox="1"/>
          <p:nvPr/>
        </p:nvSpPr>
        <p:spPr>
          <a:xfrm>
            <a:off x="777240" y="2286000"/>
            <a:ext cx="10058400" cy="10515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Rendimiento Académico</a:t>
            </a:r>
            <a:endParaRPr lang="en-US" sz="4600" dirty="0"/>
          </a:p>
        </p:txBody>
      </p:sp>
      <p:sp>
        <p:nvSpPr>
          <p:cNvPr id="6" name="Text 4"/>
          <p:cNvSpPr txBox="1"/>
          <p:nvPr/>
        </p:nvSpPr>
        <p:spPr>
          <a:xfrm>
            <a:off x="822960" y="3310128"/>
            <a:ext cx="9601200" cy="502920"/>
          </a:xfrm>
          <a:prstGeom prst="rect">
            <a:avLst/>
          </a:prstGeom>
          <a:noFill/>
          <a:ln/>
        </p:spPr>
        <p:txBody>
          <a:bodyPr wrap="square" lIns="0" tIns="0" rIns="0" bIns="0" rtlCol="0" anchor="ctr"/>
          <a:lstStyle/>
          <a:p>
            <a:pPr indent="0" marL="0">
              <a:buNone/>
            </a:pPr>
            <a:r>
              <a:rPr lang="en-US" sz="1900" dirty="0">
                <a:solidFill>
                  <a:srgbClr val="EAF1F8"/>
                </a:solidFill>
                <a:latin typeface="Calibri" pitchFamily="34" charset="0"/>
                <a:ea typeface="Calibri" pitchFamily="34" charset="-122"/>
                <a:cs typeface="Calibri" pitchFamily="34" charset="-120"/>
              </a:rPr>
              <a:t>Diagnóstico, análisis exploratorio y pipeline de tratamiento de datos</a:t>
            </a:r>
            <a:endParaRPr lang="en-US" sz="1900" dirty="0"/>
          </a:p>
        </p:txBody>
      </p:sp>
      <p:sp>
        <p:nvSpPr>
          <p:cNvPr id="7" name="Shape 5"/>
          <p:cNvSpPr/>
          <p:nvPr/>
        </p:nvSpPr>
        <p:spPr>
          <a:xfrm>
            <a:off x="822960" y="4114800"/>
            <a:ext cx="0" cy="0"/>
          </a:xfrm>
          <a:prstGeom prst="line">
            <a:avLst/>
          </a:prstGeom>
          <a:noFill/>
          <a:ln/>
        </p:spPr>
      </p:sp>
      <p:sp>
        <p:nvSpPr>
          <p:cNvPr id="8" name="Text 6"/>
          <p:cNvSpPr txBox="1"/>
          <p:nvPr/>
        </p:nvSpPr>
        <p:spPr>
          <a:xfrm>
            <a:off x="822960" y="5806440"/>
            <a:ext cx="9601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Universidad del Bío-Bío</a:t>
            </a:r>
            <a:pPr indent="0" marL="0">
              <a:buNone/>
            </a:pPr>
            <a:r>
              <a:rPr lang="en-US" sz="1300" dirty="0">
                <a:solidFill>
                  <a:srgbClr val="EAF1F8"/>
                </a:solidFill>
                <a:latin typeface="Calibri" pitchFamily="34" charset="0"/>
                <a:ea typeface="Calibri" pitchFamily="34" charset="-122"/>
                <a:cs typeface="Calibri" pitchFamily="34" charset="-120"/>
              </a:rPr>
              <a:t>   ·   Inteligencia Artificial   ·   Prof. Jazna Meza Hidalgo</a:t>
            </a:r>
            <a:endParaRPr lang="en-US" sz="1300" dirty="0"/>
          </a:p>
        </p:txBody>
      </p:sp>
      <p:sp>
        <p:nvSpPr>
          <p:cNvPr id="9" name="Shape 7"/>
          <p:cNvSpPr/>
          <p:nvPr/>
        </p:nvSpPr>
        <p:spPr>
          <a:xfrm>
            <a:off x="822960" y="6263640"/>
            <a:ext cx="1417320" cy="365760"/>
          </a:xfrm>
          <a:prstGeom prst="roundRect">
            <a:avLst>
              <a:gd name="adj" fmla="val 50000"/>
            </a:avLst>
          </a:prstGeom>
          <a:solidFill>
            <a:srgbClr val="E8A33D"/>
          </a:solidFill>
          <a:ln/>
        </p:spPr>
      </p:sp>
      <p:sp>
        <p:nvSpPr>
          <p:cNvPr id="10" name="Text 8"/>
          <p:cNvSpPr txBox="1"/>
          <p:nvPr/>
        </p:nvSpPr>
        <p:spPr>
          <a:xfrm>
            <a:off x="822960" y="6263640"/>
            <a:ext cx="1417320" cy="36576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GRUPO 14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CONTEXTO</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¿Qué buscamos con este trabajo?</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02 / 15</a:t>
            </a:r>
            <a:endParaRPr lang="en-US" sz="900" dirty="0"/>
          </a:p>
        </p:txBody>
      </p:sp>
      <p:sp>
        <p:nvSpPr>
          <p:cNvPr id="5" name="Text 3"/>
          <p:cNvSpPr txBox="1"/>
          <p:nvPr/>
        </p:nvSpPr>
        <p:spPr>
          <a:xfrm>
            <a:off x="548640" y="1600200"/>
            <a:ext cx="5212080" cy="1463040"/>
          </a:xfrm>
          <a:prstGeom prst="rect">
            <a:avLst/>
          </a:prstGeom>
          <a:noFill/>
          <a:ln/>
        </p:spPr>
        <p:txBody>
          <a:bodyPr wrap="square" lIns="0" tIns="0" rIns="0" bIns="0" rtlCol="0" anchor="ctr"/>
          <a:lstStyle/>
          <a:p>
            <a:pPr indent="0" marL="0">
              <a:lnSpc>
                <a:spcPct val="120000"/>
              </a:lnSpc>
              <a:buNone/>
            </a:pPr>
            <a:r>
              <a:rPr lang="en-US" sz="1400" dirty="0">
                <a:solidFill>
                  <a:srgbClr val="1B2A4A"/>
                </a:solidFill>
                <a:latin typeface="Calibri" pitchFamily="34" charset="0"/>
                <a:ea typeface="Calibri" pitchFamily="34" charset="-122"/>
                <a:cs typeface="Calibri" pitchFamily="34" charset="-120"/>
              </a:rPr>
              <a:t>Una institución de educación superior quiere analizar el rendimiento académico de sus estudiantes a partir de rendimiento_academico_evaluacion.csv, con datos demográficos, hábitos de estudio, antecedentes académicos y la nota final.</a:t>
            </a:r>
            <a:endParaRPr lang="en-US" sz="1400" dirty="0"/>
          </a:p>
        </p:txBody>
      </p:sp>
      <p:sp>
        <p:nvSpPr>
          <p:cNvPr id="6" name="Text 4"/>
          <p:cNvSpPr txBox="1"/>
          <p:nvPr/>
        </p:nvSpPr>
        <p:spPr>
          <a:xfrm>
            <a:off x="548640" y="3063240"/>
            <a:ext cx="5212080" cy="1188720"/>
          </a:xfrm>
          <a:prstGeom prst="rect">
            <a:avLst/>
          </a:prstGeom>
          <a:noFill/>
          <a:ln/>
        </p:spPr>
        <p:txBody>
          <a:bodyPr wrap="square" lIns="0" tIns="0" rIns="0" bIns="0" rtlCol="0" anchor="ctr"/>
          <a:lstStyle/>
          <a:p>
            <a:pPr indent="0" marL="0">
              <a:lnSpc>
                <a:spcPct val="120000"/>
              </a:lnSpc>
              <a:buNone/>
            </a:pPr>
            <a:r>
              <a:rPr lang="en-US" sz="1400" dirty="0">
                <a:solidFill>
                  <a:srgbClr val="5B6B82"/>
                </a:solidFill>
                <a:latin typeface="Calibri" pitchFamily="34" charset="0"/>
                <a:ea typeface="Calibri" pitchFamily="34" charset="-122"/>
                <a:cs typeface="Calibri" pitchFamily="34" charset="-120"/>
              </a:rPr>
              <a:t>Antes de analizarlos, había que verificar si presentaban problemas de calidad que pudieran afectar las conclusiones, y dejar un proceso reproducible de principio a fin.</a:t>
            </a:r>
            <a:endParaRPr lang="en-US" sz="1400" dirty="0"/>
          </a:p>
        </p:txBody>
      </p:sp>
      <p:sp>
        <p:nvSpPr>
          <p:cNvPr id="7" name="Shape 5"/>
          <p:cNvSpPr/>
          <p:nvPr/>
        </p:nvSpPr>
        <p:spPr>
          <a:xfrm>
            <a:off x="6263640" y="1600200"/>
            <a:ext cx="566928" cy="566928"/>
          </a:xfrm>
          <a:prstGeom prst="ellipse">
            <a:avLst/>
          </a:prstGeom>
          <a:solidFill>
            <a:srgbClr val="3E7CB1"/>
          </a:solidFill>
          <a:ln/>
        </p:spPr>
      </p:sp>
      <p:sp>
        <p:nvSpPr>
          <p:cNvPr id="8" name="Text 6"/>
          <p:cNvSpPr txBox="1"/>
          <p:nvPr/>
        </p:nvSpPr>
        <p:spPr>
          <a:xfrm>
            <a:off x="6263640" y="1600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txBox="1"/>
          <p:nvPr/>
        </p:nvSpPr>
        <p:spPr>
          <a:xfrm>
            <a:off x="6995160" y="1572768"/>
            <a:ext cx="4389120" cy="347472"/>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Diagnosticar</a:t>
            </a:r>
            <a:endParaRPr lang="en-US" sz="1600" dirty="0"/>
          </a:p>
        </p:txBody>
      </p:sp>
      <p:sp>
        <p:nvSpPr>
          <p:cNvPr id="10" name="Text 8"/>
          <p:cNvSpPr txBox="1"/>
          <p:nvPr/>
        </p:nvSpPr>
        <p:spPr>
          <a:xfrm>
            <a:off x="6995160" y="1901952"/>
            <a:ext cx="438912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calidad de los datos</a:t>
            </a:r>
            <a:endParaRPr lang="en-US" sz="1200" dirty="0"/>
          </a:p>
        </p:txBody>
      </p:sp>
      <p:sp>
        <p:nvSpPr>
          <p:cNvPr id="11" name="Shape 9"/>
          <p:cNvSpPr/>
          <p:nvPr/>
        </p:nvSpPr>
        <p:spPr>
          <a:xfrm>
            <a:off x="6263640" y="2679192"/>
            <a:ext cx="566928" cy="566928"/>
          </a:xfrm>
          <a:prstGeom prst="ellipse">
            <a:avLst/>
          </a:prstGeom>
          <a:solidFill>
            <a:srgbClr val="3E7CB1"/>
          </a:solidFill>
          <a:ln/>
        </p:spPr>
      </p:sp>
      <p:sp>
        <p:nvSpPr>
          <p:cNvPr id="12" name="Text 10"/>
          <p:cNvSpPr txBox="1"/>
          <p:nvPr/>
        </p:nvSpPr>
        <p:spPr>
          <a:xfrm>
            <a:off x="6263640" y="267919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6995160" y="2651760"/>
            <a:ext cx="4389120" cy="347472"/>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Explorar</a:t>
            </a:r>
            <a:endParaRPr lang="en-US" sz="1600" dirty="0"/>
          </a:p>
        </p:txBody>
      </p:sp>
      <p:sp>
        <p:nvSpPr>
          <p:cNvPr id="14" name="Text 12"/>
          <p:cNvSpPr txBox="1"/>
          <p:nvPr/>
        </p:nvSpPr>
        <p:spPr>
          <a:xfrm>
            <a:off x="6995160" y="2980944"/>
            <a:ext cx="438912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EDA y preguntas de investigación</a:t>
            </a:r>
            <a:endParaRPr lang="en-US" sz="1200" dirty="0"/>
          </a:p>
        </p:txBody>
      </p:sp>
      <p:sp>
        <p:nvSpPr>
          <p:cNvPr id="15" name="Shape 13"/>
          <p:cNvSpPr/>
          <p:nvPr/>
        </p:nvSpPr>
        <p:spPr>
          <a:xfrm>
            <a:off x="6263640" y="3758184"/>
            <a:ext cx="566928" cy="566928"/>
          </a:xfrm>
          <a:prstGeom prst="ellipse">
            <a:avLst/>
          </a:prstGeom>
          <a:solidFill>
            <a:srgbClr val="3E7CB1"/>
          </a:solidFill>
          <a:ln/>
        </p:spPr>
      </p:sp>
      <p:sp>
        <p:nvSpPr>
          <p:cNvPr id="16" name="Text 14"/>
          <p:cNvSpPr txBox="1"/>
          <p:nvPr/>
        </p:nvSpPr>
        <p:spPr>
          <a:xfrm>
            <a:off x="6263640" y="375818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6995160" y="3730752"/>
            <a:ext cx="4389120" cy="347472"/>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Tratar</a:t>
            </a:r>
            <a:endParaRPr lang="en-US" sz="1600" dirty="0"/>
          </a:p>
        </p:txBody>
      </p:sp>
      <p:sp>
        <p:nvSpPr>
          <p:cNvPr id="18" name="Text 16"/>
          <p:cNvSpPr txBox="1"/>
          <p:nvPr/>
        </p:nvSpPr>
        <p:spPr>
          <a:xfrm>
            <a:off x="6995160" y="4059936"/>
            <a:ext cx="438912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Pipeline + ColumnTransformer</a:t>
            </a:r>
            <a:endParaRPr lang="en-US" sz="1200" dirty="0"/>
          </a:p>
        </p:txBody>
      </p:sp>
      <p:sp>
        <p:nvSpPr>
          <p:cNvPr id="19" name="Shape 17"/>
          <p:cNvSpPr/>
          <p:nvPr/>
        </p:nvSpPr>
        <p:spPr>
          <a:xfrm>
            <a:off x="6263640" y="4837176"/>
            <a:ext cx="566928" cy="566928"/>
          </a:xfrm>
          <a:prstGeom prst="ellipse">
            <a:avLst/>
          </a:prstGeom>
          <a:solidFill>
            <a:srgbClr val="E8A33D"/>
          </a:solidFill>
          <a:ln/>
        </p:spPr>
      </p:sp>
      <p:sp>
        <p:nvSpPr>
          <p:cNvPr id="20" name="Text 18"/>
          <p:cNvSpPr txBox="1"/>
          <p:nvPr/>
        </p:nvSpPr>
        <p:spPr>
          <a:xfrm>
            <a:off x="6263640" y="48371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9"/>
          <p:cNvSpPr txBox="1"/>
          <p:nvPr/>
        </p:nvSpPr>
        <p:spPr>
          <a:xfrm>
            <a:off x="6995160" y="4809744"/>
            <a:ext cx="4389120" cy="347472"/>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Exportar</a:t>
            </a:r>
            <a:endParaRPr lang="en-US" sz="1600" dirty="0"/>
          </a:p>
        </p:txBody>
      </p:sp>
      <p:sp>
        <p:nvSpPr>
          <p:cNvPr id="22" name="Text 20"/>
          <p:cNvSpPr txBox="1"/>
          <p:nvPr/>
        </p:nvSpPr>
        <p:spPr>
          <a:xfrm>
            <a:off x="6995160" y="5138928"/>
            <a:ext cx="438912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CSV limpio y reproducible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01 · DIAGNÓSTICO</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Caracterización del dataset</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03 / 15</a:t>
            </a:r>
            <a:endParaRPr lang="en-US" sz="900" dirty="0"/>
          </a:p>
        </p:txBody>
      </p:sp>
      <p:sp>
        <p:nvSpPr>
          <p:cNvPr id="5" name="Shape 3"/>
          <p:cNvSpPr/>
          <p:nvPr/>
        </p:nvSpPr>
        <p:spPr>
          <a:xfrm>
            <a:off x="548640" y="1600200"/>
            <a:ext cx="2331720" cy="1417320"/>
          </a:xfrm>
          <a:prstGeom prst="roundRect">
            <a:avLst>
              <a:gd name="adj" fmla="val 5161"/>
            </a:avLst>
          </a:prstGeom>
          <a:solidFill>
            <a:srgbClr val="EAF1F8"/>
          </a:solidFill>
          <a:ln/>
        </p:spPr>
      </p:sp>
      <p:sp>
        <p:nvSpPr>
          <p:cNvPr id="6" name="Text 4"/>
          <p:cNvSpPr txBox="1"/>
          <p:nvPr/>
        </p:nvSpPr>
        <p:spPr>
          <a:xfrm>
            <a:off x="685800" y="1719072"/>
            <a:ext cx="2057400" cy="737006"/>
          </a:xfrm>
          <a:prstGeom prst="rect">
            <a:avLst/>
          </a:prstGeom>
          <a:noFill/>
          <a:ln/>
        </p:spPr>
        <p:txBody>
          <a:bodyPr wrap="square" lIns="0" tIns="0" rIns="0" bIns="0" rtlCol="0" anchor="b"/>
          <a:lstStyle/>
          <a:p>
            <a:pPr indent="0" marL="0">
              <a:buNone/>
            </a:pPr>
            <a:r>
              <a:rPr lang="en-US" sz="2600" b="1" dirty="0">
                <a:solidFill>
                  <a:srgbClr val="1B2A4A"/>
                </a:solidFill>
                <a:latin typeface="Cambria" pitchFamily="34" charset="0"/>
                <a:ea typeface="Cambria" pitchFamily="34" charset="-122"/>
                <a:cs typeface="Cambria" pitchFamily="34" charset="-120"/>
              </a:rPr>
              <a:t>5,100</a:t>
            </a:r>
            <a:endParaRPr lang="en-US" sz="2600" dirty="0"/>
          </a:p>
        </p:txBody>
      </p:sp>
      <p:sp>
        <p:nvSpPr>
          <p:cNvPr id="7" name="Text 5"/>
          <p:cNvSpPr txBox="1"/>
          <p:nvPr/>
        </p:nvSpPr>
        <p:spPr>
          <a:xfrm>
            <a:off x="685800" y="2422246"/>
            <a:ext cx="2057400" cy="538582"/>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registros (filas)</a:t>
            </a:r>
            <a:endParaRPr lang="en-US" sz="1050" dirty="0"/>
          </a:p>
        </p:txBody>
      </p:sp>
      <p:sp>
        <p:nvSpPr>
          <p:cNvPr id="8" name="Shape 6"/>
          <p:cNvSpPr/>
          <p:nvPr/>
        </p:nvSpPr>
        <p:spPr>
          <a:xfrm>
            <a:off x="3017520" y="1600200"/>
            <a:ext cx="2331720" cy="1417320"/>
          </a:xfrm>
          <a:prstGeom prst="roundRect">
            <a:avLst>
              <a:gd name="adj" fmla="val 5161"/>
            </a:avLst>
          </a:prstGeom>
          <a:solidFill>
            <a:srgbClr val="EAF1F8"/>
          </a:solidFill>
          <a:ln/>
        </p:spPr>
      </p:sp>
      <p:sp>
        <p:nvSpPr>
          <p:cNvPr id="9" name="Text 7"/>
          <p:cNvSpPr txBox="1"/>
          <p:nvPr/>
        </p:nvSpPr>
        <p:spPr>
          <a:xfrm>
            <a:off x="3154680" y="1719072"/>
            <a:ext cx="2057400" cy="737006"/>
          </a:xfrm>
          <a:prstGeom prst="rect">
            <a:avLst/>
          </a:prstGeom>
          <a:noFill/>
          <a:ln/>
        </p:spPr>
        <p:txBody>
          <a:bodyPr wrap="square" lIns="0" tIns="0" rIns="0" bIns="0" rtlCol="0" anchor="b"/>
          <a:lstStyle/>
          <a:p>
            <a:pPr indent="0" marL="0">
              <a:buNone/>
            </a:pPr>
            <a:r>
              <a:rPr lang="en-US" sz="2600" b="1" dirty="0">
                <a:solidFill>
                  <a:srgbClr val="1B2A4A"/>
                </a:solidFill>
                <a:latin typeface="Cambria" pitchFamily="34" charset="0"/>
                <a:ea typeface="Cambria" pitchFamily="34" charset="-122"/>
                <a:cs typeface="Cambria" pitchFamily="34" charset="-120"/>
              </a:rPr>
              <a:t>11</a:t>
            </a:r>
            <a:endParaRPr lang="en-US" sz="2600" dirty="0"/>
          </a:p>
        </p:txBody>
      </p:sp>
      <p:sp>
        <p:nvSpPr>
          <p:cNvPr id="10" name="Text 8"/>
          <p:cNvSpPr txBox="1"/>
          <p:nvPr/>
        </p:nvSpPr>
        <p:spPr>
          <a:xfrm>
            <a:off x="3154680" y="2422246"/>
            <a:ext cx="2057400" cy="538582"/>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variables (columnas)</a:t>
            </a:r>
            <a:endParaRPr lang="en-US" sz="1050" dirty="0"/>
          </a:p>
        </p:txBody>
      </p:sp>
      <p:sp>
        <p:nvSpPr>
          <p:cNvPr id="11" name="Shape 9"/>
          <p:cNvSpPr/>
          <p:nvPr/>
        </p:nvSpPr>
        <p:spPr>
          <a:xfrm>
            <a:off x="548640" y="3200400"/>
            <a:ext cx="2331720" cy="1417320"/>
          </a:xfrm>
          <a:prstGeom prst="roundRect">
            <a:avLst>
              <a:gd name="adj" fmla="val 5161"/>
            </a:avLst>
          </a:prstGeom>
          <a:solidFill>
            <a:srgbClr val="EAF1F8"/>
          </a:solidFill>
          <a:ln/>
        </p:spPr>
      </p:sp>
      <p:sp>
        <p:nvSpPr>
          <p:cNvPr id="12" name="Text 10"/>
          <p:cNvSpPr txBox="1"/>
          <p:nvPr/>
        </p:nvSpPr>
        <p:spPr>
          <a:xfrm>
            <a:off x="685800" y="3319272"/>
            <a:ext cx="2057400" cy="737006"/>
          </a:xfrm>
          <a:prstGeom prst="rect">
            <a:avLst/>
          </a:prstGeom>
          <a:noFill/>
          <a:ln/>
        </p:spPr>
        <p:txBody>
          <a:bodyPr wrap="square" lIns="0" tIns="0" rIns="0" bIns="0" rtlCol="0" anchor="b"/>
          <a:lstStyle/>
          <a:p>
            <a:pPr indent="0" marL="0">
              <a:buNone/>
            </a:pPr>
            <a:r>
              <a:rPr lang="en-US" sz="1900" b="1" dirty="0">
                <a:solidFill>
                  <a:srgbClr val="1B2A4A"/>
                </a:solidFill>
                <a:latin typeface="Cambria" pitchFamily="34" charset="0"/>
                <a:ea typeface="Cambria" pitchFamily="34" charset="-122"/>
                <a:cs typeface="Cambria" pitchFamily="34" charset="-120"/>
              </a:rPr>
              <a:t>StudentID</a:t>
            </a:r>
            <a:endParaRPr lang="en-US" sz="1900" dirty="0"/>
          </a:p>
        </p:txBody>
      </p:sp>
      <p:sp>
        <p:nvSpPr>
          <p:cNvPr id="13" name="Text 11"/>
          <p:cNvSpPr txBox="1"/>
          <p:nvPr/>
        </p:nvSpPr>
        <p:spPr>
          <a:xfrm>
            <a:off x="685800" y="4022446"/>
            <a:ext cx="2057400" cy="538582"/>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identificador único</a:t>
            </a:r>
            <a:endParaRPr lang="en-US" sz="1050" dirty="0"/>
          </a:p>
        </p:txBody>
      </p:sp>
      <p:sp>
        <p:nvSpPr>
          <p:cNvPr id="14" name="Shape 12"/>
          <p:cNvSpPr/>
          <p:nvPr/>
        </p:nvSpPr>
        <p:spPr>
          <a:xfrm>
            <a:off x="3017520" y="3200400"/>
            <a:ext cx="2331720" cy="1417320"/>
          </a:xfrm>
          <a:prstGeom prst="roundRect">
            <a:avLst>
              <a:gd name="adj" fmla="val 5161"/>
            </a:avLst>
          </a:prstGeom>
          <a:solidFill>
            <a:srgbClr val="EAF1F8"/>
          </a:solidFill>
          <a:ln/>
        </p:spPr>
      </p:sp>
      <p:sp>
        <p:nvSpPr>
          <p:cNvPr id="15" name="Text 13"/>
          <p:cNvSpPr txBox="1"/>
          <p:nvPr/>
        </p:nvSpPr>
        <p:spPr>
          <a:xfrm>
            <a:off x="3154680" y="3319272"/>
            <a:ext cx="2057400" cy="737006"/>
          </a:xfrm>
          <a:prstGeom prst="rect">
            <a:avLst/>
          </a:prstGeom>
          <a:noFill/>
          <a:ln/>
        </p:spPr>
        <p:txBody>
          <a:bodyPr wrap="square" lIns="0" tIns="0" rIns="0" bIns="0" rtlCol="0" anchor="b"/>
          <a:lstStyle/>
          <a:p>
            <a:pPr indent="0" marL="0">
              <a:buNone/>
            </a:pPr>
            <a:r>
              <a:rPr lang="en-US" sz="1900" b="1" dirty="0">
                <a:solidFill>
                  <a:srgbClr val="C97F1E"/>
                </a:solidFill>
                <a:latin typeface="Cambria" pitchFamily="34" charset="0"/>
                <a:ea typeface="Cambria" pitchFamily="34" charset="-122"/>
                <a:cs typeface="Cambria" pitchFamily="34" charset="-120"/>
              </a:rPr>
              <a:t>FinalGrade</a:t>
            </a:r>
            <a:endParaRPr lang="en-US" sz="1900" dirty="0"/>
          </a:p>
        </p:txBody>
      </p:sp>
      <p:sp>
        <p:nvSpPr>
          <p:cNvPr id="16" name="Text 14"/>
          <p:cNvSpPr txBox="1"/>
          <p:nvPr/>
        </p:nvSpPr>
        <p:spPr>
          <a:xfrm>
            <a:off x="3154680" y="4022446"/>
            <a:ext cx="2057400" cy="538582"/>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objetivo · escala 1–10</a:t>
            </a:r>
            <a:endParaRPr lang="en-US" sz="1050" dirty="0"/>
          </a:p>
        </p:txBody>
      </p:sp>
      <p:sp>
        <p:nvSpPr>
          <p:cNvPr id="17" name="Shape 15"/>
          <p:cNvSpPr/>
          <p:nvPr/>
        </p:nvSpPr>
        <p:spPr>
          <a:xfrm>
            <a:off x="5806440" y="1600200"/>
            <a:ext cx="5806440" cy="4800600"/>
          </a:xfrm>
          <a:prstGeom prst="roundRect">
            <a:avLst>
              <a:gd name="adj" fmla="val 1905"/>
            </a:avLst>
          </a:prstGeom>
          <a:solidFill>
            <a:srgbClr val="EAF1F8"/>
          </a:solidFill>
          <a:ln/>
        </p:spPr>
      </p:sp>
      <p:sp>
        <p:nvSpPr>
          <p:cNvPr id="18" name="Text 16"/>
          <p:cNvSpPr txBox="1"/>
          <p:nvPr/>
        </p:nvSpPr>
        <p:spPr>
          <a:xfrm>
            <a:off x="6126480" y="1783080"/>
            <a:ext cx="5120640" cy="36576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Tipos de variable</a:t>
            </a:r>
            <a:endParaRPr lang="en-US" sz="1500" dirty="0"/>
          </a:p>
        </p:txBody>
      </p:sp>
      <p:sp>
        <p:nvSpPr>
          <p:cNvPr id="19" name="Text 17"/>
          <p:cNvSpPr txBox="1"/>
          <p:nvPr/>
        </p:nvSpPr>
        <p:spPr>
          <a:xfrm>
            <a:off x="6126480" y="2331720"/>
            <a:ext cx="5120640" cy="292608"/>
          </a:xfrm>
          <a:prstGeom prst="rect">
            <a:avLst/>
          </a:prstGeom>
          <a:noFill/>
          <a:ln/>
        </p:spPr>
        <p:txBody>
          <a:bodyPr wrap="square" lIns="0" tIns="0" rIns="0" bIns="0" rtlCol="0" anchor="ctr"/>
          <a:lstStyle/>
          <a:p>
            <a:pPr indent="0" marL="0">
              <a:buNone/>
            </a:pPr>
            <a:r>
              <a:rPr lang="en-US" sz="1250" b="1" dirty="0">
                <a:solidFill>
                  <a:srgbClr val="3E7CB1"/>
                </a:solidFill>
                <a:latin typeface="Calibri" pitchFamily="34" charset="0"/>
                <a:ea typeface="Calibri" pitchFamily="34" charset="-122"/>
                <a:cs typeface="Calibri" pitchFamily="34" charset="-120"/>
              </a:rPr>
              <a:t>Numéricas (7)</a:t>
            </a:r>
            <a:endParaRPr lang="en-US" sz="1250" dirty="0"/>
          </a:p>
        </p:txBody>
      </p:sp>
      <p:sp>
        <p:nvSpPr>
          <p:cNvPr id="20" name="Text 18"/>
          <p:cNvSpPr txBox="1"/>
          <p:nvPr/>
        </p:nvSpPr>
        <p:spPr>
          <a:xfrm>
            <a:off x="6126480" y="2624328"/>
            <a:ext cx="5120640" cy="594360"/>
          </a:xfrm>
          <a:prstGeom prst="rect">
            <a:avLst/>
          </a:prstGeom>
          <a:noFill/>
          <a:ln/>
        </p:spPr>
        <p:txBody>
          <a:bodyPr wrap="square" lIns="0" tIns="0" rIns="0" bIns="0"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Age, StudyHours, Attendance, PreviousGPA, AssignmentsCompleted, SleepHours, InternetHours</a:t>
            </a:r>
            <a:endParaRPr lang="en-US" sz="1150" dirty="0"/>
          </a:p>
        </p:txBody>
      </p:sp>
      <p:sp>
        <p:nvSpPr>
          <p:cNvPr id="21" name="Text 19"/>
          <p:cNvSpPr txBox="1"/>
          <p:nvPr/>
        </p:nvSpPr>
        <p:spPr>
          <a:xfrm>
            <a:off x="6126480" y="3355848"/>
            <a:ext cx="5120640" cy="292608"/>
          </a:xfrm>
          <a:prstGeom prst="rect">
            <a:avLst/>
          </a:prstGeom>
          <a:noFill/>
          <a:ln/>
        </p:spPr>
        <p:txBody>
          <a:bodyPr wrap="square" lIns="0" tIns="0" rIns="0" bIns="0" rtlCol="0" anchor="ctr"/>
          <a:lstStyle/>
          <a:p>
            <a:pPr indent="0" marL="0">
              <a:buNone/>
            </a:pPr>
            <a:r>
              <a:rPr lang="en-US" sz="1250" b="1" dirty="0">
                <a:solidFill>
                  <a:srgbClr val="3E7CB1"/>
                </a:solidFill>
                <a:latin typeface="Calibri" pitchFamily="34" charset="0"/>
                <a:ea typeface="Calibri" pitchFamily="34" charset="-122"/>
                <a:cs typeface="Calibri" pitchFamily="34" charset="-120"/>
              </a:rPr>
              <a:t>Categóricas (2)</a:t>
            </a:r>
            <a:endParaRPr lang="en-US" sz="1250" dirty="0"/>
          </a:p>
        </p:txBody>
      </p:sp>
      <p:sp>
        <p:nvSpPr>
          <p:cNvPr id="22" name="Text 20"/>
          <p:cNvSpPr txBox="1"/>
          <p:nvPr/>
        </p:nvSpPr>
        <p:spPr>
          <a:xfrm>
            <a:off x="6126480" y="3648456"/>
            <a:ext cx="5120640" cy="594360"/>
          </a:xfrm>
          <a:prstGeom prst="rect">
            <a:avLst/>
          </a:prstGeom>
          <a:noFill/>
          <a:ln/>
        </p:spPr>
        <p:txBody>
          <a:bodyPr wrap="square" lIns="0" tIns="0" rIns="0" bIns="0"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Scholarship (beca), Program (programa académico)</a:t>
            </a:r>
            <a:endParaRPr lang="en-US" sz="1150" dirty="0"/>
          </a:p>
        </p:txBody>
      </p:sp>
      <p:sp>
        <p:nvSpPr>
          <p:cNvPr id="23" name="Text 21"/>
          <p:cNvSpPr txBox="1"/>
          <p:nvPr/>
        </p:nvSpPr>
        <p:spPr>
          <a:xfrm>
            <a:off x="6126480" y="4379976"/>
            <a:ext cx="5120640" cy="292608"/>
          </a:xfrm>
          <a:prstGeom prst="rect">
            <a:avLst/>
          </a:prstGeom>
          <a:noFill/>
          <a:ln/>
        </p:spPr>
        <p:txBody>
          <a:bodyPr wrap="square" lIns="0" tIns="0" rIns="0" bIns="0" rtlCol="0" anchor="ctr"/>
          <a:lstStyle/>
          <a:p>
            <a:pPr indent="0" marL="0">
              <a:buNone/>
            </a:pPr>
            <a:r>
              <a:rPr lang="en-US" sz="1250" b="1" dirty="0">
                <a:solidFill>
                  <a:srgbClr val="3E7CB1"/>
                </a:solidFill>
                <a:latin typeface="Calibri" pitchFamily="34" charset="0"/>
                <a:ea typeface="Calibri" pitchFamily="34" charset="-122"/>
                <a:cs typeface="Calibri" pitchFamily="34" charset="-120"/>
              </a:rPr>
              <a:t>Identificador (1)</a:t>
            </a:r>
            <a:endParaRPr lang="en-US" sz="1250" dirty="0"/>
          </a:p>
        </p:txBody>
      </p:sp>
      <p:sp>
        <p:nvSpPr>
          <p:cNvPr id="24" name="Text 22"/>
          <p:cNvSpPr txBox="1"/>
          <p:nvPr/>
        </p:nvSpPr>
        <p:spPr>
          <a:xfrm>
            <a:off x="6126480" y="4672584"/>
            <a:ext cx="5120640" cy="594360"/>
          </a:xfrm>
          <a:prstGeom prst="rect">
            <a:avLst/>
          </a:prstGeom>
          <a:noFill/>
          <a:ln/>
        </p:spPr>
        <p:txBody>
          <a:bodyPr wrap="square" lIns="0" tIns="0" rIns="0" bIns="0"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StudentID — clave única de registro</a:t>
            </a:r>
            <a:endParaRPr lang="en-US" sz="1150" dirty="0"/>
          </a:p>
        </p:txBody>
      </p:sp>
      <p:sp>
        <p:nvSpPr>
          <p:cNvPr id="25" name="Text 23"/>
          <p:cNvSpPr txBox="1"/>
          <p:nvPr/>
        </p:nvSpPr>
        <p:spPr>
          <a:xfrm>
            <a:off x="6126480" y="5404104"/>
            <a:ext cx="5120640" cy="292608"/>
          </a:xfrm>
          <a:prstGeom prst="rect">
            <a:avLst/>
          </a:prstGeom>
          <a:noFill/>
          <a:ln/>
        </p:spPr>
        <p:txBody>
          <a:bodyPr wrap="square" lIns="0" tIns="0" rIns="0" bIns="0" rtlCol="0" anchor="ctr"/>
          <a:lstStyle/>
          <a:p>
            <a:pPr indent="0" marL="0">
              <a:buNone/>
            </a:pPr>
            <a:r>
              <a:rPr lang="en-US" sz="1250" b="1" dirty="0">
                <a:solidFill>
                  <a:srgbClr val="3E7CB1"/>
                </a:solidFill>
                <a:latin typeface="Calibri" pitchFamily="34" charset="0"/>
                <a:ea typeface="Calibri" pitchFamily="34" charset="-122"/>
                <a:cs typeface="Calibri" pitchFamily="34" charset="-120"/>
              </a:rPr>
              <a:t>Objetivo (1)</a:t>
            </a:r>
            <a:endParaRPr lang="en-US" sz="1250" dirty="0"/>
          </a:p>
        </p:txBody>
      </p:sp>
      <p:sp>
        <p:nvSpPr>
          <p:cNvPr id="26" name="Text 24"/>
          <p:cNvSpPr txBox="1"/>
          <p:nvPr/>
        </p:nvSpPr>
        <p:spPr>
          <a:xfrm>
            <a:off x="6126480" y="5696712"/>
            <a:ext cx="5120640" cy="594360"/>
          </a:xfrm>
          <a:prstGeom prst="rect">
            <a:avLst/>
          </a:prstGeom>
          <a:noFill/>
          <a:ln/>
        </p:spPr>
        <p:txBody>
          <a:bodyPr wrap="square" lIns="0" tIns="0" rIns="0" bIns="0" rtlCol="0" anchor="ctr"/>
          <a:lstStyle/>
          <a:p>
            <a:pPr indent="0" marL="0">
              <a:lnSpc>
                <a:spcPct val="115000"/>
              </a:lnSpc>
              <a:buNone/>
            </a:pPr>
            <a:r>
              <a:rPr lang="en-US" sz="1150" dirty="0">
                <a:solidFill>
                  <a:srgbClr val="1B2A4A"/>
                </a:solidFill>
                <a:latin typeface="Calibri" pitchFamily="34" charset="0"/>
                <a:ea typeface="Calibri" pitchFamily="34" charset="-122"/>
                <a:cs typeface="Calibri" pitchFamily="34" charset="-120"/>
              </a:rPr>
              <a:t>FinalGrade — nota final, escala 1 a 10</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01 · DIAGNÓSTICO</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Problemas de calidad detectados</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04 / 15</a:t>
            </a:r>
            <a:endParaRPr lang="en-US" sz="900" dirty="0"/>
          </a:p>
        </p:txBody>
      </p:sp>
      <p:sp>
        <p:nvSpPr>
          <p:cNvPr id="5" name="Shape 3"/>
          <p:cNvSpPr/>
          <p:nvPr/>
        </p:nvSpPr>
        <p:spPr>
          <a:xfrm>
            <a:off x="548640" y="1737360"/>
            <a:ext cx="2697480" cy="3291840"/>
          </a:xfrm>
          <a:prstGeom prst="roundRect">
            <a:avLst>
              <a:gd name="adj" fmla="val 3390"/>
            </a:avLst>
          </a:prstGeom>
          <a:solidFill>
            <a:srgbClr val="1B2A4A"/>
          </a:solidFill>
          <a:ln/>
          <a:effectLst>
            <a:outerShdw sx="100000" sy="100000" kx="0" ky="0" algn="bl" rotWithShape="0" blurRad="101600" dist="38100" dir="5400000">
              <a:srgbClr val="1B2A4A">
                <a:alpha val="30000"/>
              </a:srgbClr>
            </a:outerShdw>
          </a:effectLst>
        </p:spPr>
      </p:sp>
      <p:sp>
        <p:nvSpPr>
          <p:cNvPr id="6" name="Shape 4"/>
          <p:cNvSpPr/>
          <p:nvPr/>
        </p:nvSpPr>
        <p:spPr>
          <a:xfrm>
            <a:off x="1577340" y="2057400"/>
            <a:ext cx="640080" cy="640080"/>
          </a:xfrm>
          <a:prstGeom prst="ellipse">
            <a:avLst/>
          </a:prstGeom>
          <a:solidFill>
            <a:srgbClr val="E8A33D"/>
          </a:solidFill>
          <a:ln/>
        </p:spPr>
      </p:sp>
      <p:sp>
        <p:nvSpPr>
          <p:cNvPr id="7" name="Text 5"/>
          <p:cNvSpPr txBox="1"/>
          <p:nvPr/>
        </p:nvSpPr>
        <p:spPr>
          <a:xfrm>
            <a:off x="1577340" y="2057400"/>
            <a:ext cx="640080" cy="640080"/>
          </a:xfrm>
          <a:prstGeom prst="rect">
            <a:avLst/>
          </a:prstGeom>
          <a:noFill/>
          <a:ln/>
        </p:spPr>
        <p:txBody>
          <a:bodyPr wrap="square" lIns="0" tIns="0" rIns="0" bIns="0" rtlCol="0" anchor="ctr"/>
          <a:lstStyle/>
          <a:p>
            <a:pPr algn="ctr" indent="0" marL="0">
              <a:buNone/>
            </a:pPr>
            <a:r>
              <a:rPr lang="en-US" sz="2000" b="1" dirty="0">
                <a:solidFill>
                  <a:srgbClr val="1B2A4A"/>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685800" y="2971800"/>
            <a:ext cx="242316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1,335</a:t>
            </a:r>
            <a:endParaRPr lang="en-US" sz="2600" dirty="0"/>
          </a:p>
        </p:txBody>
      </p:sp>
      <p:sp>
        <p:nvSpPr>
          <p:cNvPr id="9" name="Text 7"/>
          <p:cNvSpPr txBox="1"/>
          <p:nvPr/>
        </p:nvSpPr>
        <p:spPr>
          <a:xfrm>
            <a:off x="731520" y="3611880"/>
            <a:ext cx="2331720" cy="502920"/>
          </a:xfrm>
          <a:prstGeom prst="rect">
            <a:avLst/>
          </a:prstGeom>
          <a:noFill/>
          <a:ln/>
        </p:spPr>
        <p:txBody>
          <a:bodyPr wrap="square" lIns="0" tIns="0" rIns="0" bIns="0" rtlCol="0" anchor="ctr"/>
          <a:lstStyle/>
          <a:p>
            <a:pPr algn="ctr" indent="0" marL="0">
              <a:buNone/>
            </a:pPr>
            <a:r>
              <a:rPr lang="en-US" sz="1250" b="1" dirty="0">
                <a:solidFill>
                  <a:srgbClr val="EAF1F8"/>
                </a:solidFill>
                <a:latin typeface="Calibri" pitchFamily="34" charset="0"/>
                <a:ea typeface="Calibri" pitchFamily="34" charset="-122"/>
                <a:cs typeface="Calibri" pitchFamily="34" charset="-120"/>
              </a:rPr>
              <a:t>celdas con valores faltantes</a:t>
            </a:r>
            <a:endParaRPr lang="en-US" sz="1250" dirty="0"/>
          </a:p>
        </p:txBody>
      </p:sp>
      <p:sp>
        <p:nvSpPr>
          <p:cNvPr id="10" name="Text 8"/>
          <p:cNvSpPr txBox="1"/>
          <p:nvPr/>
        </p:nvSpPr>
        <p:spPr>
          <a:xfrm>
            <a:off x="731520" y="4160520"/>
            <a:ext cx="2331720" cy="731520"/>
          </a:xfrm>
          <a:prstGeom prst="rect">
            <a:avLst/>
          </a:prstGeom>
          <a:noFill/>
          <a:ln/>
        </p:spPr>
        <p:txBody>
          <a:bodyPr wrap="square" lIns="0" tIns="0" rIns="0" bIns="0" rtlCol="0" anchor="ctr"/>
          <a:lstStyle/>
          <a:p>
            <a:pPr algn="ctr" indent="0" marL="0">
              <a:lnSpc>
                <a:spcPct val="110000"/>
              </a:lnSpc>
              <a:buNone/>
            </a:pPr>
            <a:r>
              <a:rPr lang="en-US" sz="1050" dirty="0">
                <a:solidFill>
                  <a:srgbClr val="9FB6D6"/>
                </a:solidFill>
                <a:latin typeface="Calibri" pitchFamily="34" charset="0"/>
                <a:ea typeface="Calibri" pitchFamily="34" charset="-122"/>
                <a:cs typeface="Calibri" pitchFamily="34" charset="-120"/>
              </a:rPr>
              <a:t>máx. 4.39% en Attendance</a:t>
            </a:r>
            <a:endParaRPr lang="en-US" sz="1050" dirty="0"/>
          </a:p>
        </p:txBody>
      </p:sp>
      <p:sp>
        <p:nvSpPr>
          <p:cNvPr id="11" name="Shape 9"/>
          <p:cNvSpPr/>
          <p:nvPr/>
        </p:nvSpPr>
        <p:spPr>
          <a:xfrm>
            <a:off x="3474720" y="1737360"/>
            <a:ext cx="2697480" cy="3291840"/>
          </a:xfrm>
          <a:prstGeom prst="roundRect">
            <a:avLst>
              <a:gd name="adj" fmla="val 3390"/>
            </a:avLst>
          </a:prstGeom>
          <a:solidFill>
            <a:srgbClr val="1B2A4A"/>
          </a:solidFill>
          <a:ln/>
          <a:effectLst>
            <a:outerShdw sx="100000" sy="100000" kx="0" ky="0" algn="bl" rotWithShape="0" blurRad="101600" dist="38100" dir="5400000">
              <a:srgbClr val="1B2A4A">
                <a:alpha val="30000"/>
              </a:srgbClr>
            </a:outerShdw>
          </a:effectLst>
        </p:spPr>
      </p:sp>
      <p:sp>
        <p:nvSpPr>
          <p:cNvPr id="12" name="Shape 10"/>
          <p:cNvSpPr/>
          <p:nvPr/>
        </p:nvSpPr>
        <p:spPr>
          <a:xfrm>
            <a:off x="4503420" y="2057400"/>
            <a:ext cx="640080" cy="640080"/>
          </a:xfrm>
          <a:prstGeom prst="ellipse">
            <a:avLst/>
          </a:prstGeom>
          <a:solidFill>
            <a:srgbClr val="E8A33D"/>
          </a:solidFill>
          <a:ln/>
        </p:spPr>
      </p:sp>
      <p:sp>
        <p:nvSpPr>
          <p:cNvPr id="13" name="Text 11"/>
          <p:cNvSpPr txBox="1"/>
          <p:nvPr/>
        </p:nvSpPr>
        <p:spPr>
          <a:xfrm>
            <a:off x="4503420" y="2057400"/>
            <a:ext cx="640080" cy="640080"/>
          </a:xfrm>
          <a:prstGeom prst="rect">
            <a:avLst/>
          </a:prstGeom>
          <a:noFill/>
          <a:ln/>
        </p:spPr>
        <p:txBody>
          <a:bodyPr wrap="square" lIns="0" tIns="0" rIns="0" bIns="0" rtlCol="0" anchor="ctr"/>
          <a:lstStyle/>
          <a:p>
            <a:pPr algn="ctr" indent="0" marL="0">
              <a:buNone/>
            </a:pPr>
            <a:r>
              <a:rPr lang="en-US" sz="2000" b="1" dirty="0">
                <a:solidFill>
                  <a:srgbClr val="1B2A4A"/>
                </a:solidFill>
                <a:latin typeface="Cambria" pitchFamily="34" charset="0"/>
                <a:ea typeface="Cambria" pitchFamily="34" charset="-122"/>
                <a:cs typeface="Cambria" pitchFamily="34" charset="-120"/>
              </a:rPr>
              <a:t>2</a:t>
            </a:r>
            <a:endParaRPr lang="en-US" sz="2000" dirty="0"/>
          </a:p>
        </p:txBody>
      </p:sp>
      <p:sp>
        <p:nvSpPr>
          <p:cNvPr id="14" name="Text 12"/>
          <p:cNvSpPr txBox="1"/>
          <p:nvPr/>
        </p:nvSpPr>
        <p:spPr>
          <a:xfrm>
            <a:off x="3611880" y="2971800"/>
            <a:ext cx="242316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100</a:t>
            </a:r>
            <a:endParaRPr lang="en-US" sz="2600" dirty="0"/>
          </a:p>
        </p:txBody>
      </p:sp>
      <p:sp>
        <p:nvSpPr>
          <p:cNvPr id="15" name="Text 13"/>
          <p:cNvSpPr txBox="1"/>
          <p:nvPr/>
        </p:nvSpPr>
        <p:spPr>
          <a:xfrm>
            <a:off x="3657600" y="3611880"/>
            <a:ext cx="2331720" cy="502920"/>
          </a:xfrm>
          <a:prstGeom prst="rect">
            <a:avLst/>
          </a:prstGeom>
          <a:noFill/>
          <a:ln/>
        </p:spPr>
        <p:txBody>
          <a:bodyPr wrap="square" lIns="0" tIns="0" rIns="0" bIns="0" rtlCol="0" anchor="ctr"/>
          <a:lstStyle/>
          <a:p>
            <a:pPr algn="ctr" indent="0" marL="0">
              <a:buNone/>
            </a:pPr>
            <a:r>
              <a:rPr lang="en-US" sz="1250" b="1" dirty="0">
                <a:solidFill>
                  <a:srgbClr val="EAF1F8"/>
                </a:solidFill>
                <a:latin typeface="Calibri" pitchFamily="34" charset="0"/>
                <a:ea typeface="Calibri" pitchFamily="34" charset="-122"/>
                <a:cs typeface="Calibri" pitchFamily="34" charset="-120"/>
              </a:rPr>
              <a:t>registros duplicados</a:t>
            </a:r>
            <a:endParaRPr lang="en-US" sz="1250" dirty="0"/>
          </a:p>
        </p:txBody>
      </p:sp>
      <p:sp>
        <p:nvSpPr>
          <p:cNvPr id="16" name="Text 14"/>
          <p:cNvSpPr txBox="1"/>
          <p:nvPr/>
        </p:nvSpPr>
        <p:spPr>
          <a:xfrm>
            <a:off x="3657600" y="4160520"/>
            <a:ext cx="2331720" cy="731520"/>
          </a:xfrm>
          <a:prstGeom prst="rect">
            <a:avLst/>
          </a:prstGeom>
          <a:noFill/>
          <a:ln/>
        </p:spPr>
        <p:txBody>
          <a:bodyPr wrap="square" lIns="0" tIns="0" rIns="0" bIns="0" rtlCol="0" anchor="ctr"/>
          <a:lstStyle/>
          <a:p>
            <a:pPr algn="ctr" indent="0" marL="0">
              <a:lnSpc>
                <a:spcPct val="110000"/>
              </a:lnSpc>
              <a:buNone/>
            </a:pPr>
            <a:r>
              <a:rPr lang="en-US" sz="1050" dirty="0">
                <a:solidFill>
                  <a:srgbClr val="9FB6D6"/>
                </a:solidFill>
                <a:latin typeface="Calibri" pitchFamily="34" charset="0"/>
                <a:ea typeface="Calibri" pitchFamily="34" charset="-122"/>
                <a:cs typeface="Calibri" pitchFamily="34" charset="-120"/>
              </a:rPr>
              <a:t>2.0% del dataset · StudentID repetido</a:t>
            </a:r>
            <a:endParaRPr lang="en-US" sz="1050" dirty="0"/>
          </a:p>
        </p:txBody>
      </p:sp>
      <p:sp>
        <p:nvSpPr>
          <p:cNvPr id="17" name="Shape 15"/>
          <p:cNvSpPr/>
          <p:nvPr/>
        </p:nvSpPr>
        <p:spPr>
          <a:xfrm>
            <a:off x="6400800" y="1737360"/>
            <a:ext cx="2697480" cy="3291840"/>
          </a:xfrm>
          <a:prstGeom prst="roundRect">
            <a:avLst>
              <a:gd name="adj" fmla="val 3390"/>
            </a:avLst>
          </a:prstGeom>
          <a:solidFill>
            <a:srgbClr val="1B2A4A"/>
          </a:solidFill>
          <a:ln/>
          <a:effectLst>
            <a:outerShdw sx="100000" sy="100000" kx="0" ky="0" algn="bl" rotWithShape="0" blurRad="101600" dist="38100" dir="5400000">
              <a:srgbClr val="1B2A4A">
                <a:alpha val="30000"/>
              </a:srgbClr>
            </a:outerShdw>
          </a:effectLst>
        </p:spPr>
      </p:sp>
      <p:sp>
        <p:nvSpPr>
          <p:cNvPr id="18" name="Shape 16"/>
          <p:cNvSpPr/>
          <p:nvPr/>
        </p:nvSpPr>
        <p:spPr>
          <a:xfrm>
            <a:off x="7429500" y="2057400"/>
            <a:ext cx="640080" cy="640080"/>
          </a:xfrm>
          <a:prstGeom prst="ellipse">
            <a:avLst/>
          </a:prstGeom>
          <a:solidFill>
            <a:srgbClr val="E8A33D"/>
          </a:solidFill>
          <a:ln/>
        </p:spPr>
      </p:sp>
      <p:sp>
        <p:nvSpPr>
          <p:cNvPr id="19" name="Text 17"/>
          <p:cNvSpPr txBox="1"/>
          <p:nvPr/>
        </p:nvSpPr>
        <p:spPr>
          <a:xfrm>
            <a:off x="7429500" y="2057400"/>
            <a:ext cx="640080" cy="640080"/>
          </a:xfrm>
          <a:prstGeom prst="rect">
            <a:avLst/>
          </a:prstGeom>
          <a:noFill/>
          <a:ln/>
        </p:spPr>
        <p:txBody>
          <a:bodyPr wrap="square" lIns="0" tIns="0" rIns="0" bIns="0" rtlCol="0" anchor="ctr"/>
          <a:lstStyle/>
          <a:p>
            <a:pPr algn="ctr" indent="0" marL="0">
              <a:buNone/>
            </a:pPr>
            <a:r>
              <a:rPr lang="en-US" sz="2000" b="1" dirty="0">
                <a:solidFill>
                  <a:srgbClr val="1B2A4A"/>
                </a:solidFill>
                <a:latin typeface="Cambria" pitchFamily="34" charset="0"/>
                <a:ea typeface="Cambria" pitchFamily="34" charset="-122"/>
                <a:cs typeface="Cambria" pitchFamily="34" charset="-120"/>
              </a:rPr>
              <a:t>3</a:t>
            </a:r>
            <a:endParaRPr lang="en-US" sz="2000" dirty="0"/>
          </a:p>
        </p:txBody>
      </p:sp>
      <p:sp>
        <p:nvSpPr>
          <p:cNvPr id="20" name="Text 18"/>
          <p:cNvSpPr txBox="1"/>
          <p:nvPr/>
        </p:nvSpPr>
        <p:spPr>
          <a:xfrm>
            <a:off x="6537960" y="2971800"/>
            <a:ext cx="242316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63</a:t>
            </a:r>
            <a:endParaRPr lang="en-US" sz="2600" dirty="0"/>
          </a:p>
        </p:txBody>
      </p:sp>
      <p:sp>
        <p:nvSpPr>
          <p:cNvPr id="21" name="Text 19"/>
          <p:cNvSpPr txBox="1"/>
          <p:nvPr/>
        </p:nvSpPr>
        <p:spPr>
          <a:xfrm>
            <a:off x="6583680" y="3611880"/>
            <a:ext cx="2331720" cy="502920"/>
          </a:xfrm>
          <a:prstGeom prst="rect">
            <a:avLst/>
          </a:prstGeom>
          <a:noFill/>
          <a:ln/>
        </p:spPr>
        <p:txBody>
          <a:bodyPr wrap="square" lIns="0" tIns="0" rIns="0" bIns="0" rtlCol="0" anchor="ctr"/>
          <a:lstStyle/>
          <a:p>
            <a:pPr algn="ctr" indent="0" marL="0">
              <a:buNone/>
            </a:pPr>
            <a:r>
              <a:rPr lang="en-US" sz="1250" b="1" dirty="0">
                <a:solidFill>
                  <a:srgbClr val="EAF1F8"/>
                </a:solidFill>
                <a:latin typeface="Calibri" pitchFamily="34" charset="0"/>
                <a:ea typeface="Calibri" pitchFamily="34" charset="-122"/>
                <a:cs typeface="Calibri" pitchFamily="34" charset="-120"/>
              </a:rPr>
              <a:t>inconsistencias numéricas</a:t>
            </a:r>
            <a:endParaRPr lang="en-US" sz="1250" dirty="0"/>
          </a:p>
        </p:txBody>
      </p:sp>
      <p:sp>
        <p:nvSpPr>
          <p:cNvPr id="22" name="Text 20"/>
          <p:cNvSpPr txBox="1"/>
          <p:nvPr/>
        </p:nvSpPr>
        <p:spPr>
          <a:xfrm>
            <a:off x="6583680" y="4160520"/>
            <a:ext cx="2331720" cy="731520"/>
          </a:xfrm>
          <a:prstGeom prst="rect">
            <a:avLst/>
          </a:prstGeom>
          <a:noFill/>
          <a:ln/>
        </p:spPr>
        <p:txBody>
          <a:bodyPr wrap="square" lIns="0" tIns="0" rIns="0" bIns="0" rtlCol="0" anchor="ctr"/>
          <a:lstStyle/>
          <a:p>
            <a:pPr algn="ctr" indent="0" marL="0">
              <a:lnSpc>
                <a:spcPct val="110000"/>
              </a:lnSpc>
              <a:buNone/>
            </a:pPr>
            <a:r>
              <a:rPr lang="en-US" sz="1050" dirty="0">
                <a:solidFill>
                  <a:srgbClr val="9FB6D6"/>
                </a:solidFill>
                <a:latin typeface="Calibri" pitchFamily="34" charset="0"/>
                <a:ea typeface="Calibri" pitchFamily="34" charset="-122"/>
                <a:cs typeface="Calibri" pitchFamily="34" charset="-120"/>
              </a:rPr>
              <a:t>valores fuera del dominio válido</a:t>
            </a:r>
            <a:endParaRPr lang="en-US" sz="1050" dirty="0"/>
          </a:p>
        </p:txBody>
      </p:sp>
      <p:sp>
        <p:nvSpPr>
          <p:cNvPr id="23" name="Shape 21"/>
          <p:cNvSpPr/>
          <p:nvPr/>
        </p:nvSpPr>
        <p:spPr>
          <a:xfrm>
            <a:off x="9326880" y="1737360"/>
            <a:ext cx="2697480" cy="3291840"/>
          </a:xfrm>
          <a:prstGeom prst="roundRect">
            <a:avLst>
              <a:gd name="adj" fmla="val 3390"/>
            </a:avLst>
          </a:prstGeom>
          <a:solidFill>
            <a:srgbClr val="1B2A4A"/>
          </a:solidFill>
          <a:ln/>
          <a:effectLst>
            <a:outerShdw sx="100000" sy="100000" kx="0" ky="0" algn="bl" rotWithShape="0" blurRad="101600" dist="38100" dir="5400000">
              <a:srgbClr val="1B2A4A">
                <a:alpha val="30000"/>
              </a:srgbClr>
            </a:outerShdw>
          </a:effectLst>
        </p:spPr>
      </p:sp>
      <p:sp>
        <p:nvSpPr>
          <p:cNvPr id="24" name="Shape 22"/>
          <p:cNvSpPr/>
          <p:nvPr/>
        </p:nvSpPr>
        <p:spPr>
          <a:xfrm>
            <a:off x="10355580" y="2057400"/>
            <a:ext cx="640080" cy="640080"/>
          </a:xfrm>
          <a:prstGeom prst="ellipse">
            <a:avLst/>
          </a:prstGeom>
          <a:solidFill>
            <a:srgbClr val="E8A33D"/>
          </a:solidFill>
          <a:ln/>
        </p:spPr>
      </p:sp>
      <p:sp>
        <p:nvSpPr>
          <p:cNvPr id="25" name="Text 23"/>
          <p:cNvSpPr txBox="1"/>
          <p:nvPr/>
        </p:nvSpPr>
        <p:spPr>
          <a:xfrm>
            <a:off x="10355580" y="2057400"/>
            <a:ext cx="640080" cy="640080"/>
          </a:xfrm>
          <a:prstGeom prst="rect">
            <a:avLst/>
          </a:prstGeom>
          <a:noFill/>
          <a:ln/>
        </p:spPr>
        <p:txBody>
          <a:bodyPr wrap="square" lIns="0" tIns="0" rIns="0" bIns="0" rtlCol="0" anchor="ctr"/>
          <a:lstStyle/>
          <a:p>
            <a:pPr algn="ctr" indent="0" marL="0">
              <a:buNone/>
            </a:pPr>
            <a:r>
              <a:rPr lang="en-US" sz="2000" b="1" dirty="0">
                <a:solidFill>
                  <a:srgbClr val="1B2A4A"/>
                </a:solidFill>
                <a:latin typeface="Cambria" pitchFamily="34" charset="0"/>
                <a:ea typeface="Cambria" pitchFamily="34" charset="-122"/>
                <a:cs typeface="Cambria" pitchFamily="34" charset="-120"/>
              </a:rPr>
              <a:t>4</a:t>
            </a:r>
            <a:endParaRPr lang="en-US" sz="2000" dirty="0"/>
          </a:p>
        </p:txBody>
      </p:sp>
      <p:sp>
        <p:nvSpPr>
          <p:cNvPr id="26" name="Text 24"/>
          <p:cNvSpPr txBox="1"/>
          <p:nvPr/>
        </p:nvSpPr>
        <p:spPr>
          <a:xfrm>
            <a:off x="9464040" y="2971800"/>
            <a:ext cx="242316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2.94%</a:t>
            </a:r>
            <a:endParaRPr lang="en-US" sz="2600" dirty="0"/>
          </a:p>
        </p:txBody>
      </p:sp>
      <p:sp>
        <p:nvSpPr>
          <p:cNvPr id="27" name="Text 25"/>
          <p:cNvSpPr txBox="1"/>
          <p:nvPr/>
        </p:nvSpPr>
        <p:spPr>
          <a:xfrm>
            <a:off x="9509760" y="3611880"/>
            <a:ext cx="2331720" cy="502920"/>
          </a:xfrm>
          <a:prstGeom prst="rect">
            <a:avLst/>
          </a:prstGeom>
          <a:noFill/>
          <a:ln/>
        </p:spPr>
        <p:txBody>
          <a:bodyPr wrap="square" lIns="0" tIns="0" rIns="0" bIns="0" rtlCol="0" anchor="ctr"/>
          <a:lstStyle/>
          <a:p>
            <a:pPr algn="ctr" indent="0" marL="0">
              <a:buNone/>
            </a:pPr>
            <a:r>
              <a:rPr lang="en-US" sz="1250" b="1" dirty="0">
                <a:solidFill>
                  <a:srgbClr val="EAF1F8"/>
                </a:solidFill>
                <a:latin typeface="Calibri" pitchFamily="34" charset="0"/>
                <a:ea typeface="Calibri" pitchFamily="34" charset="-122"/>
                <a:cs typeface="Calibri" pitchFamily="34" charset="-120"/>
              </a:rPr>
              <a:t>valores atípicos (IQR)</a:t>
            </a:r>
            <a:endParaRPr lang="en-US" sz="1250" dirty="0"/>
          </a:p>
        </p:txBody>
      </p:sp>
      <p:sp>
        <p:nvSpPr>
          <p:cNvPr id="28" name="Text 26"/>
          <p:cNvSpPr txBox="1"/>
          <p:nvPr/>
        </p:nvSpPr>
        <p:spPr>
          <a:xfrm>
            <a:off x="9509760" y="4160520"/>
            <a:ext cx="2331720" cy="731520"/>
          </a:xfrm>
          <a:prstGeom prst="rect">
            <a:avLst/>
          </a:prstGeom>
          <a:noFill/>
          <a:ln/>
        </p:spPr>
        <p:txBody>
          <a:bodyPr wrap="square" lIns="0" tIns="0" rIns="0" bIns="0" rtlCol="0" anchor="ctr"/>
          <a:lstStyle/>
          <a:p>
            <a:pPr algn="ctr" indent="0" marL="0">
              <a:lnSpc>
                <a:spcPct val="110000"/>
              </a:lnSpc>
              <a:buNone/>
            </a:pPr>
            <a:r>
              <a:rPr lang="en-US" sz="1050" dirty="0">
                <a:solidFill>
                  <a:srgbClr val="9FB6D6"/>
                </a:solidFill>
                <a:latin typeface="Calibri" pitchFamily="34" charset="0"/>
                <a:ea typeface="Calibri" pitchFamily="34" charset="-122"/>
                <a:cs typeface="Calibri" pitchFamily="34" charset="-120"/>
              </a:rPr>
              <a:t>InternetHours es la variable más afectada</a:t>
            </a:r>
            <a:endParaRPr lang="en-US" sz="1050" dirty="0"/>
          </a:p>
        </p:txBody>
      </p:sp>
      <p:sp>
        <p:nvSpPr>
          <p:cNvPr id="29" name="Text 27"/>
          <p:cNvSpPr txBox="1"/>
          <p:nvPr/>
        </p:nvSpPr>
        <p:spPr>
          <a:xfrm>
            <a:off x="548640" y="5257800"/>
            <a:ext cx="10607040" cy="457200"/>
          </a:xfrm>
          <a:prstGeom prst="rect">
            <a:avLst/>
          </a:prstGeom>
          <a:noFill/>
          <a:ln/>
        </p:spPr>
        <p:txBody>
          <a:bodyPr wrap="square" lIns="0" tIns="0" rIns="0" bIns="0" rtlCol="0" anchor="ctr"/>
          <a:lstStyle/>
          <a:p>
            <a:pPr indent="0" marL="0">
              <a:buNone/>
            </a:pPr>
            <a:r>
              <a:rPr lang="en-US" sz="1250" i="1" dirty="0">
                <a:solidFill>
                  <a:srgbClr val="5B6B82"/>
                </a:solidFill>
                <a:latin typeface="Calibri" pitchFamily="34" charset="0"/>
                <a:ea typeface="Calibri" pitchFamily="34" charset="-122"/>
                <a:cs typeface="Calibri" pitchFamily="34" charset="-120"/>
              </a:rPr>
              <a:t>Ningún tipo de problema afecta de forma dominante al dataset — pero juntos, sí distorsionan las conclusiones si no se tratan.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01.2 – 01.3 · DIAGNÓSTICO</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Valores faltantes y registros duplicados</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05 / 15</a:t>
            </a:r>
            <a:endParaRPr lang="en-US" sz="900" dirty="0"/>
          </a:p>
        </p:txBody>
      </p:sp>
      <p:pic>
        <p:nvPicPr>
          <p:cNvPr id="5" name="Image 0" descr="imgs/cell11_0.png">    </p:cNvPr>
          <p:cNvPicPr>
            <a:picLocks noChangeAspect="1"/>
          </p:cNvPicPr>
          <p:nvPr/>
        </p:nvPicPr>
        <p:blipFill>
          <a:blip r:embed="rId1"/>
          <a:stretch>
            <a:fillRect/>
          </a:stretch>
        </p:blipFill>
        <p:spPr>
          <a:xfrm>
            <a:off x="548640" y="1691640"/>
            <a:ext cx="5577840" cy="2724912"/>
          </a:xfrm>
          <a:prstGeom prst="rect">
            <a:avLst/>
          </a:prstGeom>
          <a:effectLst>
            <a:outerShdw sx="100000" sy="100000" kx="0" ky="0" algn="bl" rotWithShape="0" blurRad="127000" dist="38100" dir="5400000">
              <a:srgbClr val="1B2A4A">
                <a:alpha val="35000"/>
              </a:srgbClr>
            </a:outerShdw>
          </a:effectLst>
        </p:spPr>
      </p:pic>
      <p:sp>
        <p:nvSpPr>
          <p:cNvPr id="6" name="Text 3"/>
          <p:cNvSpPr txBox="1"/>
          <p:nvPr/>
        </p:nvSpPr>
        <p:spPr>
          <a:xfrm>
            <a:off x="548640" y="4526280"/>
            <a:ext cx="5577840" cy="45720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Total: 1,335 celdas faltantes en 9 de las 11 variables (todas salvo StudentID y FinalGrade).</a:t>
            </a:r>
            <a:endParaRPr lang="en-US" sz="1100" dirty="0"/>
          </a:p>
        </p:txBody>
      </p:sp>
      <p:sp>
        <p:nvSpPr>
          <p:cNvPr id="7" name="Shape 4"/>
          <p:cNvSpPr/>
          <p:nvPr/>
        </p:nvSpPr>
        <p:spPr>
          <a:xfrm>
            <a:off x="6400800" y="1691640"/>
            <a:ext cx="5212080" cy="2286000"/>
          </a:xfrm>
          <a:prstGeom prst="roundRect">
            <a:avLst>
              <a:gd name="adj" fmla="val 4000"/>
            </a:avLst>
          </a:prstGeom>
          <a:solidFill>
            <a:srgbClr val="EAF1F8"/>
          </a:solidFill>
          <a:ln/>
        </p:spPr>
      </p:sp>
      <p:sp>
        <p:nvSpPr>
          <p:cNvPr id="8" name="Text 5"/>
          <p:cNvSpPr txBox="1"/>
          <p:nvPr/>
        </p:nvSpPr>
        <p:spPr>
          <a:xfrm>
            <a:off x="6629400" y="1847088"/>
            <a:ext cx="4754880" cy="32004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Decisión · Faltantes</a:t>
            </a:r>
            <a:endParaRPr lang="en-US" sz="1400" dirty="0"/>
          </a:p>
        </p:txBody>
      </p:sp>
      <p:sp>
        <p:nvSpPr>
          <p:cNvPr id="9" name="Text 6"/>
          <p:cNvSpPr txBox="1"/>
          <p:nvPr/>
        </p:nvSpPr>
        <p:spPr>
          <a:xfrm>
            <a:off x="6629400" y="2212848"/>
            <a:ext cx="4754880" cy="1645920"/>
          </a:xfrm>
          <a:prstGeom prst="rect">
            <a:avLst/>
          </a:prstGeom>
          <a:noFill/>
          <a:ln/>
        </p:spPr>
        <p:txBody>
          <a:bodyPr wrap="square" lIns="0" tIns="0" rIns="0" bIns="0" rtlCol="0" anchor="ctr"/>
          <a:lstStyle/>
          <a:p>
            <a:pPr indent="0" marL="0">
              <a:lnSpc>
                <a:spcPct val="125000"/>
              </a:lnSpc>
              <a:buNone/>
            </a:pPr>
            <a:r>
              <a:rPr lang="en-US" sz="1250" dirty="0">
                <a:solidFill>
                  <a:srgbClr val="1B2A4A"/>
                </a:solidFill>
                <a:latin typeface="Calibri" pitchFamily="34" charset="0"/>
                <a:ea typeface="Calibri" pitchFamily="34" charset="-122"/>
                <a:cs typeface="Calibri" pitchFamily="34" charset="-120"/>
              </a:rPr>
              <a:t>Ninguna variable supera 5% de faltantes → conviene imputar en vez de descartar filas.</a:t>
            </a:r>
            <a:endParaRPr lang="en-US" sz="1250" dirty="0"/>
          </a:p>
          <a:p>
            <a:pPr indent="0" marL="0">
              <a:lnSpc>
                <a:spcPct val="125000"/>
              </a:lnSpc>
              <a:buNone/>
            </a:pPr>
            <a:r>
              <a:rPr lang="en-US" sz="1250" dirty="0">
                <a:solidFill>
                  <a:srgbClr val="1B2A4A"/>
                </a:solidFill>
                <a:latin typeface="Calibri" pitchFamily="34" charset="0"/>
                <a:ea typeface="Calibri" pitchFamily="34" charset="-122"/>
                <a:cs typeface="Calibri" pitchFamily="34" charset="-120"/>
              </a:rPr>
              <a:t>• Numéricas: mediana (resistente a outliers)</a:t>
            </a:r>
            <a:endParaRPr lang="en-US" sz="1250" dirty="0"/>
          </a:p>
          <a:p>
            <a:pPr indent="0" marL="0">
              <a:lnSpc>
                <a:spcPct val="125000"/>
              </a:lnSpc>
              <a:buNone/>
            </a:pPr>
            <a:r>
              <a:rPr lang="en-US" sz="1250" dirty="0">
                <a:solidFill>
                  <a:srgbClr val="1B2A4A"/>
                </a:solidFill>
                <a:latin typeface="Calibri" pitchFamily="34" charset="0"/>
                <a:ea typeface="Calibri" pitchFamily="34" charset="-122"/>
                <a:cs typeface="Calibri" pitchFamily="34" charset="-120"/>
              </a:rPr>
              <a:t>• Categóricas: moda</a:t>
            </a:r>
            <a:endParaRPr lang="en-US" sz="1250" dirty="0"/>
          </a:p>
        </p:txBody>
      </p:sp>
      <p:sp>
        <p:nvSpPr>
          <p:cNvPr id="10" name="Shape 7"/>
          <p:cNvSpPr/>
          <p:nvPr/>
        </p:nvSpPr>
        <p:spPr>
          <a:xfrm>
            <a:off x="6400800" y="4160520"/>
            <a:ext cx="5212080" cy="2240280"/>
          </a:xfrm>
          <a:prstGeom prst="roundRect">
            <a:avLst>
              <a:gd name="adj" fmla="val 4082"/>
            </a:avLst>
          </a:prstGeom>
          <a:solidFill>
            <a:srgbClr val="1B2A4A"/>
          </a:solidFill>
          <a:ln/>
        </p:spPr>
      </p:sp>
      <p:sp>
        <p:nvSpPr>
          <p:cNvPr id="11" name="Text 8"/>
          <p:cNvSpPr txBox="1"/>
          <p:nvPr/>
        </p:nvSpPr>
        <p:spPr>
          <a:xfrm>
            <a:off x="6629400" y="4315968"/>
            <a:ext cx="4754880" cy="320040"/>
          </a:xfrm>
          <a:prstGeom prst="rect">
            <a:avLst/>
          </a:prstGeom>
          <a:noFill/>
          <a:ln/>
        </p:spPr>
        <p:txBody>
          <a:bodyPr wrap="square" lIns="0" tIns="0" rIns="0" bIns="0" rtlCol="0" anchor="ctr"/>
          <a:lstStyle/>
          <a:p>
            <a:pPr indent="0" marL="0">
              <a:buNone/>
            </a:pPr>
            <a:r>
              <a:rPr lang="en-US" sz="1400" b="1" dirty="0">
                <a:solidFill>
                  <a:srgbClr val="E8A33D"/>
                </a:solidFill>
                <a:latin typeface="Cambria" pitchFamily="34" charset="0"/>
                <a:ea typeface="Cambria" pitchFamily="34" charset="-122"/>
                <a:cs typeface="Cambria" pitchFamily="34" charset="-120"/>
              </a:rPr>
              <a:t>Decisión · Duplicados</a:t>
            </a:r>
            <a:endParaRPr lang="en-US" sz="1400" dirty="0"/>
          </a:p>
        </p:txBody>
      </p:sp>
      <p:sp>
        <p:nvSpPr>
          <p:cNvPr id="12" name="Text 9"/>
          <p:cNvSpPr txBox="1"/>
          <p:nvPr/>
        </p:nvSpPr>
        <p:spPr>
          <a:xfrm>
            <a:off x="6629400" y="4681728"/>
            <a:ext cx="4754880" cy="1554480"/>
          </a:xfrm>
          <a:prstGeom prst="rect">
            <a:avLst/>
          </a:prstGeom>
          <a:noFill/>
          <a:ln/>
        </p:spPr>
        <p:txBody>
          <a:bodyPr wrap="square" lIns="0" tIns="0" rIns="0" bIns="0"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100 filas idénticas (2.0%), mismo StudentID → información redundante que distorsiona los estadísticos.</a:t>
            </a:r>
            <a:endParaRPr lang="en-US" sz="1250" dirty="0"/>
          </a:p>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Decisión: eliminar los duplicados exactos.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01.4 · DIAGNÓSTICO</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Inconsistencias de dominio</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06 / 15</a:t>
            </a:r>
            <a:endParaRPr lang="en-US" sz="900" dirty="0"/>
          </a:p>
        </p:txBody>
      </p:sp>
      <p:sp>
        <p:nvSpPr>
          <p:cNvPr id="5" name="Shape 3"/>
          <p:cNvSpPr/>
          <p:nvPr/>
        </p:nvSpPr>
        <p:spPr>
          <a:xfrm>
            <a:off x="548640" y="1691640"/>
            <a:ext cx="5349240" cy="4663440"/>
          </a:xfrm>
          <a:prstGeom prst="roundRect">
            <a:avLst>
              <a:gd name="adj" fmla="val 1961"/>
            </a:avLst>
          </a:prstGeom>
          <a:solidFill>
            <a:srgbClr val="EAF1F8"/>
          </a:solidFill>
          <a:ln/>
        </p:spPr>
      </p:sp>
      <p:sp>
        <p:nvSpPr>
          <p:cNvPr id="6" name="Text 4"/>
          <p:cNvSpPr txBox="1"/>
          <p:nvPr/>
        </p:nvSpPr>
        <p:spPr>
          <a:xfrm>
            <a:off x="822960" y="1874520"/>
            <a:ext cx="4846320"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Variables categóricas</a:t>
            </a:r>
            <a:endParaRPr lang="en-US" sz="1500" dirty="0"/>
          </a:p>
        </p:txBody>
      </p:sp>
      <p:sp>
        <p:nvSpPr>
          <p:cNvPr id="7" name="Text 5"/>
          <p:cNvSpPr txBox="1"/>
          <p:nvPr/>
        </p:nvSpPr>
        <p:spPr>
          <a:xfrm>
            <a:off x="822960" y="2240280"/>
            <a:ext cx="4846320" cy="457200"/>
          </a:xfrm>
          <a:prstGeom prst="rect">
            <a:avLst/>
          </a:prstGeom>
          <a:noFill/>
          <a:ln/>
        </p:spPr>
        <p:txBody>
          <a:bodyPr wrap="square" lIns="0" tIns="0" rIns="0" bIns="0" rtlCol="0" anchor="ctr"/>
          <a:lstStyle/>
          <a:p>
            <a:pPr indent="0" marL="0">
              <a:buNone/>
            </a:pPr>
            <a:r>
              <a:rPr lang="en-US" sz="1250" dirty="0">
                <a:solidFill>
                  <a:srgbClr val="1B2A4A"/>
                </a:solidFill>
                <a:latin typeface="Calibri" pitchFamily="34" charset="0"/>
                <a:ea typeface="Calibri" pitchFamily="34" charset="-122"/>
                <a:cs typeface="Calibri" pitchFamily="34" charset="-120"/>
              </a:rPr>
              <a:t>71 registros con variantes de escritura para la misma categoría:</a:t>
            </a:r>
            <a:endParaRPr lang="en-US" sz="1250" dirty="0"/>
          </a:p>
        </p:txBody>
      </p:sp>
      <p:sp>
        <p:nvSpPr>
          <p:cNvPr id="8" name="Text 6"/>
          <p:cNvSpPr txBox="1"/>
          <p:nvPr/>
        </p:nvSpPr>
        <p:spPr>
          <a:xfrm>
            <a:off x="822960" y="2697480"/>
            <a:ext cx="4846320" cy="1051560"/>
          </a:xfrm>
          <a:prstGeom prst="rect">
            <a:avLst/>
          </a:prstGeom>
          <a:noFill/>
          <a:ln/>
        </p:spPr>
        <p:txBody>
          <a:bodyPr wrap="square" lIns="0" tIns="0" rIns="0" bIns="0" rtlCol="0" anchor="ctr"/>
          <a:lstStyle/>
          <a:p>
            <a:pPr indent="0" marL="0">
              <a:lnSpc>
                <a:spcPct val="125000"/>
              </a:lnSpc>
              <a:buNone/>
            </a:pPr>
            <a:r>
              <a:rPr lang="en-US" sz="1150" dirty="0">
                <a:solidFill>
                  <a:srgbClr val="1B2A4A"/>
                </a:solidFill>
                <a:latin typeface="Calibri" pitchFamily="34" charset="0"/>
                <a:ea typeface="Calibri" pitchFamily="34" charset="-122"/>
                <a:cs typeface="Calibri" pitchFamily="34" charset="-120"/>
              </a:rPr>
              <a:t>•  Scholarship: “Sí” / “sí” / “SÍ ” / “SI” / “No ” / “NO”</a:t>
            </a:r>
            <a:endParaRPr lang="en-US" sz="1150" dirty="0"/>
          </a:p>
          <a:p>
            <a:pPr indent="0" marL="0">
              <a:lnSpc>
                <a:spcPct val="125000"/>
              </a:lnSpc>
              <a:buNone/>
            </a:pPr>
            <a:r>
              <a:rPr lang="en-US" sz="1150" dirty="0">
                <a:solidFill>
                  <a:srgbClr val="1B2A4A"/>
                </a:solidFill>
                <a:latin typeface="Calibri" pitchFamily="34" charset="0"/>
                <a:ea typeface="Calibri" pitchFamily="34" charset="-122"/>
                <a:cs typeface="Calibri" pitchFamily="34" charset="-120"/>
              </a:rPr>
              <a:t>•  Program: “Ingeniería Informática” / “INGENIERÍA INFORMÁTICA” / “Ingenieria Informatica” (sin tilde)</a:t>
            </a:r>
            <a:endParaRPr lang="en-US" sz="1150" dirty="0"/>
          </a:p>
        </p:txBody>
      </p:sp>
      <p:sp>
        <p:nvSpPr>
          <p:cNvPr id="9" name="Shape 7"/>
          <p:cNvSpPr/>
          <p:nvPr/>
        </p:nvSpPr>
        <p:spPr>
          <a:xfrm>
            <a:off x="822960" y="3886200"/>
            <a:ext cx="4800600" cy="896112"/>
          </a:xfrm>
          <a:prstGeom prst="roundRect">
            <a:avLst>
              <a:gd name="adj" fmla="val 8163"/>
            </a:avLst>
          </a:prstGeom>
          <a:solidFill>
            <a:srgbClr val="FFFFFF"/>
          </a:solidFill>
          <a:ln/>
        </p:spPr>
      </p:sp>
      <p:sp>
        <p:nvSpPr>
          <p:cNvPr id="10" name="Text 8"/>
          <p:cNvSpPr txBox="1"/>
          <p:nvPr/>
        </p:nvSpPr>
        <p:spPr>
          <a:xfrm>
            <a:off x="1005840" y="3977640"/>
            <a:ext cx="4480560" cy="731520"/>
          </a:xfrm>
          <a:prstGeom prst="rect">
            <a:avLst/>
          </a:prstGeom>
          <a:noFill/>
          <a:ln/>
        </p:spPr>
        <p:txBody>
          <a:bodyPr wrap="square" lIns="0" tIns="0" rIns="0" bIns="0" rtlCol="0" anchor="ctr"/>
          <a:lstStyle/>
          <a:p>
            <a:pPr indent="0" marL="0">
              <a:lnSpc>
                <a:spcPct val="120000"/>
              </a:lnSpc>
              <a:buNone/>
            </a:pPr>
            <a:r>
              <a:rPr lang="en-US" sz="1150" b="1" dirty="0">
                <a:solidFill>
                  <a:srgbClr val="3E7CB1"/>
                </a:solidFill>
                <a:latin typeface="Calibri" pitchFamily="34" charset="0"/>
                <a:ea typeface="Calibri" pitchFamily="34" charset="-122"/>
                <a:cs typeface="Calibri" pitchFamily="34" charset="-120"/>
              </a:rPr>
              <a:t>Decisión: normalizar texto (mayúsculas/minúsculas, tildes y espacios) a categorías canónicas.</a:t>
            </a:r>
            <a:endParaRPr lang="en-US" sz="1150" dirty="0"/>
          </a:p>
        </p:txBody>
      </p:sp>
      <p:sp>
        <p:nvSpPr>
          <p:cNvPr id="11" name="Text 9"/>
          <p:cNvSpPr txBox="1"/>
          <p:nvPr/>
        </p:nvSpPr>
        <p:spPr>
          <a:xfrm>
            <a:off x="822960" y="4937760"/>
            <a:ext cx="4846320" cy="1280160"/>
          </a:xfrm>
          <a:prstGeom prst="rect">
            <a:avLst/>
          </a:prstGeom>
          <a:noFill/>
          <a:ln/>
        </p:spPr>
        <p:txBody>
          <a:bodyPr wrap="square" lIns="0" tIns="0" rIns="0" bIns="0" rtlCol="0" anchor="ctr"/>
          <a:lstStyle/>
          <a:p>
            <a:pPr indent="0" marL="0">
              <a:lnSpc>
                <a:spcPct val="120000"/>
              </a:lnSpc>
              <a:buNone/>
            </a:pPr>
            <a:r>
              <a:rPr lang="en-US" sz="1050" i="1" dirty="0">
                <a:solidFill>
                  <a:srgbClr val="5B6B82"/>
                </a:solidFill>
                <a:latin typeface="Calibri" pitchFamily="34" charset="0"/>
                <a:ea typeface="Calibri" pitchFamily="34" charset="-122"/>
                <a:cs typeface="Calibri" pitchFamily="34" charset="-120"/>
              </a:rPr>
              <a:t>Además, 70–81 valores nulos por variable categórica (ver diapositiva anterior) se tratan como faltantes, no como inconsistencia.</a:t>
            </a:r>
            <a:endParaRPr lang="en-US" sz="1050" dirty="0"/>
          </a:p>
        </p:txBody>
      </p:sp>
      <p:sp>
        <p:nvSpPr>
          <p:cNvPr id="12" name="Shape 10"/>
          <p:cNvSpPr/>
          <p:nvPr/>
        </p:nvSpPr>
        <p:spPr>
          <a:xfrm>
            <a:off x="6126480" y="1691640"/>
            <a:ext cx="5486400" cy="4663440"/>
          </a:xfrm>
          <a:prstGeom prst="roundRect">
            <a:avLst>
              <a:gd name="adj" fmla="val 1961"/>
            </a:avLst>
          </a:prstGeom>
          <a:solidFill>
            <a:srgbClr val="1B2A4A"/>
          </a:solidFill>
          <a:ln/>
        </p:spPr>
      </p:sp>
      <p:sp>
        <p:nvSpPr>
          <p:cNvPr id="13" name="Text 11"/>
          <p:cNvSpPr txBox="1"/>
          <p:nvPr/>
        </p:nvSpPr>
        <p:spPr>
          <a:xfrm>
            <a:off x="6400800" y="1874520"/>
            <a:ext cx="4937760" cy="32004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Variables numéricas fuera de dominio</a:t>
            </a:r>
            <a:endParaRPr lang="en-US" sz="1500" dirty="0"/>
          </a:p>
        </p:txBody>
      </p:sp>
      <p:sp>
        <p:nvSpPr>
          <p:cNvPr id="14" name="Text 12"/>
          <p:cNvSpPr txBox="1"/>
          <p:nvPr/>
        </p:nvSpPr>
        <p:spPr>
          <a:xfrm>
            <a:off x="6400800" y="2331720"/>
            <a:ext cx="23774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Attendance</a:t>
            </a:r>
            <a:endParaRPr lang="en-US" sz="1250" dirty="0"/>
          </a:p>
        </p:txBody>
      </p:sp>
      <p:sp>
        <p:nvSpPr>
          <p:cNvPr id="15" name="Text 13"/>
          <p:cNvSpPr txBox="1"/>
          <p:nvPr/>
        </p:nvSpPr>
        <p:spPr>
          <a:xfrm>
            <a:off x="8778240" y="2331720"/>
            <a:ext cx="2103120" cy="384048"/>
          </a:xfrm>
          <a:prstGeom prst="rect">
            <a:avLst/>
          </a:prstGeom>
          <a:noFill/>
          <a:ln/>
        </p:spPr>
        <p:txBody>
          <a:bodyPr wrap="square" lIns="0" tIns="0" rIns="0" bIns="0" rtlCol="0" anchor="ctr"/>
          <a:lstStyle/>
          <a:p>
            <a:pPr indent="0" marL="0">
              <a:buNone/>
            </a:pPr>
            <a:r>
              <a:rPr lang="en-US" sz="1150" dirty="0">
                <a:solidFill>
                  <a:srgbClr val="B9CBE3"/>
                </a:solidFill>
                <a:latin typeface="Calibri" pitchFamily="34" charset="0"/>
                <a:ea typeface="Calibri" pitchFamily="34" charset="-122"/>
                <a:cs typeface="Calibri" pitchFamily="34" charset="-120"/>
              </a:rPr>
              <a:t>&gt; 100%</a:t>
            </a:r>
            <a:endParaRPr lang="en-US" sz="1150" dirty="0"/>
          </a:p>
        </p:txBody>
      </p:sp>
      <p:sp>
        <p:nvSpPr>
          <p:cNvPr id="16" name="Text 14"/>
          <p:cNvSpPr txBox="1"/>
          <p:nvPr/>
        </p:nvSpPr>
        <p:spPr>
          <a:xfrm>
            <a:off x="10881360" y="2331720"/>
            <a:ext cx="640080" cy="384048"/>
          </a:xfrm>
          <a:prstGeom prst="rect">
            <a:avLst/>
          </a:prstGeom>
          <a:noFill/>
          <a:ln/>
        </p:spPr>
        <p:txBody>
          <a:bodyPr wrap="square" lIns="0" tIns="0" rIns="0" bIns="0" rtlCol="0" anchor="ctr"/>
          <a:lstStyle/>
          <a:p>
            <a:pPr algn="r" indent="0" marL="0">
              <a:buNone/>
            </a:pPr>
            <a:r>
              <a:rPr lang="en-US" sz="1500" b="1" dirty="0">
                <a:solidFill>
                  <a:srgbClr val="E8A33D"/>
                </a:solidFill>
                <a:latin typeface="Cambria" pitchFamily="34" charset="0"/>
                <a:ea typeface="Cambria" pitchFamily="34" charset="-122"/>
                <a:cs typeface="Cambria" pitchFamily="34" charset="-120"/>
              </a:rPr>
              <a:t>20</a:t>
            </a:r>
            <a:endParaRPr lang="en-US" sz="1500" dirty="0"/>
          </a:p>
        </p:txBody>
      </p:sp>
      <p:sp>
        <p:nvSpPr>
          <p:cNvPr id="17" name="Text 15"/>
          <p:cNvSpPr txBox="1"/>
          <p:nvPr/>
        </p:nvSpPr>
        <p:spPr>
          <a:xfrm>
            <a:off x="6400800" y="2898648"/>
            <a:ext cx="23774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SleepHours</a:t>
            </a:r>
            <a:endParaRPr lang="en-US" sz="1250" dirty="0"/>
          </a:p>
        </p:txBody>
      </p:sp>
      <p:sp>
        <p:nvSpPr>
          <p:cNvPr id="18" name="Text 16"/>
          <p:cNvSpPr txBox="1"/>
          <p:nvPr/>
        </p:nvSpPr>
        <p:spPr>
          <a:xfrm>
            <a:off x="8778240" y="2898648"/>
            <a:ext cx="2103120" cy="384048"/>
          </a:xfrm>
          <a:prstGeom prst="rect">
            <a:avLst/>
          </a:prstGeom>
          <a:noFill/>
          <a:ln/>
        </p:spPr>
        <p:txBody>
          <a:bodyPr wrap="square" lIns="0" tIns="0" rIns="0" bIns="0" rtlCol="0" anchor="ctr"/>
          <a:lstStyle/>
          <a:p>
            <a:pPr indent="0" marL="0">
              <a:buNone/>
            </a:pPr>
            <a:r>
              <a:rPr lang="en-US" sz="1150" dirty="0">
                <a:solidFill>
                  <a:srgbClr val="B9CBE3"/>
                </a:solidFill>
                <a:latin typeface="Calibri" pitchFamily="34" charset="0"/>
                <a:ea typeface="Calibri" pitchFamily="34" charset="-122"/>
                <a:cs typeface="Calibri" pitchFamily="34" charset="-120"/>
              </a:rPr>
              <a:t>fuera de [0, 24] h</a:t>
            </a:r>
            <a:endParaRPr lang="en-US" sz="1150" dirty="0"/>
          </a:p>
        </p:txBody>
      </p:sp>
      <p:sp>
        <p:nvSpPr>
          <p:cNvPr id="19" name="Text 17"/>
          <p:cNvSpPr txBox="1"/>
          <p:nvPr/>
        </p:nvSpPr>
        <p:spPr>
          <a:xfrm>
            <a:off x="10881360" y="2898648"/>
            <a:ext cx="640080" cy="384048"/>
          </a:xfrm>
          <a:prstGeom prst="rect">
            <a:avLst/>
          </a:prstGeom>
          <a:noFill/>
          <a:ln/>
        </p:spPr>
        <p:txBody>
          <a:bodyPr wrap="square" lIns="0" tIns="0" rIns="0" bIns="0" rtlCol="0" anchor="ctr"/>
          <a:lstStyle/>
          <a:p>
            <a:pPr algn="r" indent="0" marL="0">
              <a:buNone/>
            </a:pPr>
            <a:r>
              <a:rPr lang="en-US" sz="1500" b="1" dirty="0">
                <a:solidFill>
                  <a:srgbClr val="E8A33D"/>
                </a:solidFill>
                <a:latin typeface="Cambria" pitchFamily="34" charset="0"/>
                <a:ea typeface="Cambria" pitchFamily="34" charset="-122"/>
                <a:cs typeface="Cambria" pitchFamily="34" charset="-120"/>
              </a:rPr>
              <a:t>8</a:t>
            </a:r>
            <a:endParaRPr lang="en-US" sz="1500" dirty="0"/>
          </a:p>
        </p:txBody>
      </p:sp>
      <p:sp>
        <p:nvSpPr>
          <p:cNvPr id="20" name="Text 18"/>
          <p:cNvSpPr txBox="1"/>
          <p:nvPr/>
        </p:nvSpPr>
        <p:spPr>
          <a:xfrm>
            <a:off x="6400800" y="3465576"/>
            <a:ext cx="23774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InternetHours</a:t>
            </a:r>
            <a:endParaRPr lang="en-US" sz="1250" dirty="0"/>
          </a:p>
        </p:txBody>
      </p:sp>
      <p:sp>
        <p:nvSpPr>
          <p:cNvPr id="21" name="Text 19"/>
          <p:cNvSpPr txBox="1"/>
          <p:nvPr/>
        </p:nvSpPr>
        <p:spPr>
          <a:xfrm>
            <a:off x="8778240" y="3465576"/>
            <a:ext cx="2103120" cy="384048"/>
          </a:xfrm>
          <a:prstGeom prst="rect">
            <a:avLst/>
          </a:prstGeom>
          <a:noFill/>
          <a:ln/>
        </p:spPr>
        <p:txBody>
          <a:bodyPr wrap="square" lIns="0" tIns="0" rIns="0" bIns="0" rtlCol="0" anchor="ctr"/>
          <a:lstStyle/>
          <a:p>
            <a:pPr indent="0" marL="0">
              <a:buNone/>
            </a:pPr>
            <a:r>
              <a:rPr lang="en-US" sz="1150" dirty="0">
                <a:solidFill>
                  <a:srgbClr val="B9CBE3"/>
                </a:solidFill>
                <a:latin typeface="Calibri" pitchFamily="34" charset="0"/>
                <a:ea typeface="Calibri" pitchFamily="34" charset="-122"/>
                <a:cs typeface="Calibri" pitchFamily="34" charset="-120"/>
              </a:rPr>
              <a:t>fuera de [0, 24] h</a:t>
            </a:r>
            <a:endParaRPr lang="en-US" sz="1150" dirty="0"/>
          </a:p>
        </p:txBody>
      </p:sp>
      <p:sp>
        <p:nvSpPr>
          <p:cNvPr id="22" name="Text 20"/>
          <p:cNvSpPr txBox="1"/>
          <p:nvPr/>
        </p:nvSpPr>
        <p:spPr>
          <a:xfrm>
            <a:off x="10881360" y="3465576"/>
            <a:ext cx="640080" cy="384048"/>
          </a:xfrm>
          <a:prstGeom prst="rect">
            <a:avLst/>
          </a:prstGeom>
          <a:noFill/>
          <a:ln/>
        </p:spPr>
        <p:txBody>
          <a:bodyPr wrap="square" lIns="0" tIns="0" rIns="0" bIns="0" rtlCol="0" anchor="ctr"/>
          <a:lstStyle/>
          <a:p>
            <a:pPr algn="r" indent="0" marL="0">
              <a:buNone/>
            </a:pPr>
            <a:r>
              <a:rPr lang="en-US" sz="1500" b="1" dirty="0">
                <a:solidFill>
                  <a:srgbClr val="E8A33D"/>
                </a:solidFill>
                <a:latin typeface="Cambria" pitchFamily="34" charset="0"/>
                <a:ea typeface="Cambria" pitchFamily="34" charset="-122"/>
                <a:cs typeface="Cambria" pitchFamily="34" charset="-120"/>
              </a:rPr>
              <a:t>31</a:t>
            </a:r>
            <a:endParaRPr lang="en-US" sz="1500" dirty="0"/>
          </a:p>
        </p:txBody>
      </p:sp>
      <p:sp>
        <p:nvSpPr>
          <p:cNvPr id="23" name="Text 21"/>
          <p:cNvSpPr txBox="1"/>
          <p:nvPr/>
        </p:nvSpPr>
        <p:spPr>
          <a:xfrm>
            <a:off x="6400800" y="4032504"/>
            <a:ext cx="23774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FinalGrade (objetivo)</a:t>
            </a:r>
            <a:endParaRPr lang="en-US" sz="1250" dirty="0"/>
          </a:p>
        </p:txBody>
      </p:sp>
      <p:sp>
        <p:nvSpPr>
          <p:cNvPr id="24" name="Text 22"/>
          <p:cNvSpPr txBox="1"/>
          <p:nvPr/>
        </p:nvSpPr>
        <p:spPr>
          <a:xfrm>
            <a:off x="8778240" y="4032504"/>
            <a:ext cx="2103120" cy="384048"/>
          </a:xfrm>
          <a:prstGeom prst="rect">
            <a:avLst/>
          </a:prstGeom>
          <a:noFill/>
          <a:ln/>
        </p:spPr>
        <p:txBody>
          <a:bodyPr wrap="square" lIns="0" tIns="0" rIns="0" bIns="0" rtlCol="0" anchor="ctr"/>
          <a:lstStyle/>
          <a:p>
            <a:pPr indent="0" marL="0">
              <a:buNone/>
            </a:pPr>
            <a:r>
              <a:rPr lang="en-US" sz="1150" dirty="0">
                <a:solidFill>
                  <a:srgbClr val="B9CBE3"/>
                </a:solidFill>
                <a:latin typeface="Calibri" pitchFamily="34" charset="0"/>
                <a:ea typeface="Calibri" pitchFamily="34" charset="-122"/>
                <a:cs typeface="Calibri" pitchFamily="34" charset="-120"/>
              </a:rPr>
              <a:t>fuera de [1, 10]</a:t>
            </a:r>
            <a:endParaRPr lang="en-US" sz="1150" dirty="0"/>
          </a:p>
        </p:txBody>
      </p:sp>
      <p:sp>
        <p:nvSpPr>
          <p:cNvPr id="25" name="Text 23"/>
          <p:cNvSpPr txBox="1"/>
          <p:nvPr/>
        </p:nvSpPr>
        <p:spPr>
          <a:xfrm>
            <a:off x="10881360" y="4032504"/>
            <a:ext cx="640080" cy="384048"/>
          </a:xfrm>
          <a:prstGeom prst="rect">
            <a:avLst/>
          </a:prstGeom>
          <a:noFill/>
          <a:ln/>
        </p:spPr>
        <p:txBody>
          <a:bodyPr wrap="square" lIns="0" tIns="0" rIns="0" bIns="0" rtlCol="0" anchor="ctr"/>
          <a:lstStyle/>
          <a:p>
            <a:pPr algn="r" indent="0" marL="0">
              <a:buNone/>
            </a:pPr>
            <a:r>
              <a:rPr lang="en-US" sz="1500" b="1" dirty="0">
                <a:solidFill>
                  <a:srgbClr val="E8A33D"/>
                </a:solidFill>
                <a:latin typeface="Cambria" pitchFamily="34" charset="0"/>
                <a:ea typeface="Cambria" pitchFamily="34" charset="-122"/>
                <a:cs typeface="Cambria" pitchFamily="34" charset="-120"/>
              </a:rPr>
              <a:t>4</a:t>
            </a:r>
            <a:endParaRPr lang="en-US" sz="1500" dirty="0"/>
          </a:p>
        </p:txBody>
      </p:sp>
      <p:sp>
        <p:nvSpPr>
          <p:cNvPr id="26" name="Shape 24"/>
          <p:cNvSpPr/>
          <p:nvPr/>
        </p:nvSpPr>
        <p:spPr>
          <a:xfrm>
            <a:off x="6400800" y="4800600"/>
            <a:ext cx="4937760" cy="1417320"/>
          </a:xfrm>
          <a:prstGeom prst="roundRect">
            <a:avLst>
              <a:gd name="adj" fmla="val 5161"/>
            </a:avLst>
          </a:prstGeom>
          <a:solidFill>
            <a:srgbClr val="223357"/>
          </a:solidFill>
          <a:ln/>
        </p:spPr>
      </p:sp>
      <p:sp>
        <p:nvSpPr>
          <p:cNvPr id="27" name="Text 25"/>
          <p:cNvSpPr txBox="1"/>
          <p:nvPr/>
        </p:nvSpPr>
        <p:spPr>
          <a:xfrm>
            <a:off x="6583680" y="4937760"/>
            <a:ext cx="4572000" cy="1188720"/>
          </a:xfrm>
          <a:prstGeom prst="rect">
            <a:avLst/>
          </a:prstGeom>
          <a:noFill/>
          <a:ln/>
        </p:spPr>
        <p:txBody>
          <a:bodyPr wrap="square" lIns="0" tIns="0" rIns="0" bIns="0" rtlCol="0" anchor="ctr"/>
          <a:lstStyle/>
          <a:p>
            <a:pPr indent="0" marL="0">
              <a:lnSpc>
                <a:spcPct val="125000"/>
              </a:lnSpc>
              <a:buNone/>
            </a:pPr>
            <a:r>
              <a:rPr lang="en-US" sz="1150" b="1" dirty="0">
                <a:solidFill>
                  <a:srgbClr val="FFFFFF"/>
                </a:solidFill>
                <a:latin typeface="Calibri" pitchFamily="34" charset="0"/>
                <a:ea typeface="Calibri" pitchFamily="34" charset="-122"/>
                <a:cs typeface="Calibri" pitchFamily="34" charset="-120"/>
              </a:rPr>
              <a:t>Decisión: valores inválidos en features → NaN (se imputan). El target inválido nunca se imputa: esas 4 filas se eliminan.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01.5 · DIAGNÓSTICO</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Valores atípicos (outliers)</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07 / 15</a:t>
            </a:r>
            <a:endParaRPr lang="en-US" sz="900" dirty="0"/>
          </a:p>
        </p:txBody>
      </p:sp>
      <p:pic>
        <p:nvPicPr>
          <p:cNvPr id="5" name="Image 0" descr="imgs/cell20_0.png">    </p:cNvPr>
          <p:cNvPicPr>
            <a:picLocks noChangeAspect="1"/>
          </p:cNvPicPr>
          <p:nvPr/>
        </p:nvPicPr>
        <p:blipFill>
          <a:blip r:embed="rId1"/>
          <a:stretch>
            <a:fillRect/>
          </a:stretch>
        </p:blipFill>
        <p:spPr>
          <a:xfrm>
            <a:off x="548640" y="1691640"/>
            <a:ext cx="6537960" cy="2825496"/>
          </a:xfrm>
          <a:prstGeom prst="rect">
            <a:avLst/>
          </a:prstGeom>
          <a:effectLst>
            <a:outerShdw sx="100000" sy="100000" kx="0" ky="0" algn="bl" rotWithShape="0" blurRad="127000" dist="38100" dir="5400000">
              <a:srgbClr val="1B2A4A">
                <a:alpha val="35000"/>
              </a:srgbClr>
            </a:outerShdw>
          </a:effectLst>
        </p:spPr>
      </p:pic>
      <p:sp>
        <p:nvSpPr>
          <p:cNvPr id="6" name="Text 3"/>
          <p:cNvSpPr txBox="1"/>
          <p:nvPr/>
        </p:nvSpPr>
        <p:spPr>
          <a:xfrm>
            <a:off x="548640" y="4617720"/>
            <a:ext cx="6537960" cy="41148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Detección con regla IQR (rango intercuartílico × 1.5) sobre las 7 variables numéricas.</a:t>
            </a:r>
            <a:endParaRPr lang="en-US" sz="1100" dirty="0"/>
          </a:p>
        </p:txBody>
      </p:sp>
      <p:sp>
        <p:nvSpPr>
          <p:cNvPr id="7" name="Shape 4"/>
          <p:cNvSpPr/>
          <p:nvPr/>
        </p:nvSpPr>
        <p:spPr>
          <a:xfrm>
            <a:off x="7315200" y="1691640"/>
            <a:ext cx="4297680" cy="4709160"/>
          </a:xfrm>
          <a:prstGeom prst="roundRect">
            <a:avLst>
              <a:gd name="adj" fmla="val 2128"/>
            </a:avLst>
          </a:prstGeom>
          <a:solidFill>
            <a:srgbClr val="EAF1F8"/>
          </a:solidFill>
          <a:ln/>
        </p:spPr>
      </p:sp>
      <p:sp>
        <p:nvSpPr>
          <p:cNvPr id="8" name="Text 5"/>
          <p:cNvSpPr txBox="1"/>
          <p:nvPr/>
        </p:nvSpPr>
        <p:spPr>
          <a:xfrm>
            <a:off x="7543800" y="1828800"/>
            <a:ext cx="3840480" cy="777240"/>
          </a:xfrm>
          <a:prstGeom prst="rect">
            <a:avLst/>
          </a:prstGeom>
          <a:noFill/>
          <a:ln/>
        </p:spPr>
        <p:txBody>
          <a:bodyPr wrap="square" lIns="0" tIns="0" rIns="0" bIns="0" rtlCol="0" anchor="ctr"/>
          <a:lstStyle/>
          <a:p>
            <a:pPr indent="0" marL="0">
              <a:lnSpc>
                <a:spcPct val="120000"/>
              </a:lnSpc>
              <a:buNone/>
            </a:pPr>
            <a:r>
              <a:rPr lang="en-US" sz="1150" b="1" dirty="0">
                <a:solidFill>
                  <a:srgbClr val="1B2A4A"/>
                </a:solidFill>
                <a:latin typeface="Calibri" pitchFamily="34" charset="0"/>
                <a:ea typeface="Calibri" pitchFamily="34" charset="-122"/>
                <a:cs typeface="Calibri" pitchFamily="34" charset="-120"/>
              </a:rPr>
              <a:t>InternetHours 2.94% · Age 1.26% · StudyHours 1.00% (y otras entre 0.35–0.68%)</a:t>
            </a:r>
            <a:endParaRPr lang="en-US" sz="1150" dirty="0"/>
          </a:p>
        </p:txBody>
      </p:sp>
      <p:sp>
        <p:nvSpPr>
          <p:cNvPr id="9" name="Text 6"/>
          <p:cNvSpPr txBox="1"/>
          <p:nvPr/>
        </p:nvSpPr>
        <p:spPr>
          <a:xfrm>
            <a:off x="7543800" y="2697480"/>
            <a:ext cx="3840480" cy="320040"/>
          </a:xfrm>
          <a:prstGeom prst="rect">
            <a:avLst/>
          </a:prstGeom>
          <a:noFill/>
          <a:ln/>
        </p:spPr>
        <p:txBody>
          <a:bodyPr wrap="square" lIns="0" tIns="0" rIns="0" bIns="0" rtlCol="0" anchor="ctr"/>
          <a:lstStyle/>
          <a:p>
            <a:pPr indent="0" marL="0">
              <a:buNone/>
            </a:pPr>
            <a:r>
              <a:rPr lang="en-US" sz="1350" b="1" dirty="0">
                <a:solidFill>
                  <a:srgbClr val="3E7CB1"/>
                </a:solidFill>
                <a:latin typeface="Cambria" pitchFamily="34" charset="0"/>
                <a:ea typeface="Cambria" pitchFamily="34" charset="-122"/>
                <a:cs typeface="Cambria" pitchFamily="34" charset="-120"/>
              </a:rPr>
              <a:t>Inválido vs. extremo legítimo</a:t>
            </a:r>
            <a:endParaRPr lang="en-US" sz="1350" dirty="0"/>
          </a:p>
        </p:txBody>
      </p:sp>
      <p:sp>
        <p:nvSpPr>
          <p:cNvPr id="10" name="Text 7"/>
          <p:cNvSpPr txBox="1"/>
          <p:nvPr/>
        </p:nvSpPr>
        <p:spPr>
          <a:xfrm>
            <a:off x="7543800" y="3035808"/>
            <a:ext cx="3840480" cy="1234440"/>
          </a:xfrm>
          <a:prstGeom prst="rect">
            <a:avLst/>
          </a:prstGeom>
          <a:noFill/>
          <a:ln/>
        </p:spPr>
        <p:txBody>
          <a:bodyPr wrap="square" lIns="0" tIns="0" rIns="0" bIns="0" rtlCol="0" anchor="ctr"/>
          <a:lstStyle/>
          <a:p>
            <a:pPr indent="0" marL="0">
              <a:lnSpc>
                <a:spcPct val="125000"/>
              </a:lnSpc>
              <a:buNone/>
            </a:pPr>
            <a:r>
              <a:rPr lang="en-US" sz="1150" dirty="0">
                <a:solidFill>
                  <a:srgbClr val="1B2A4A"/>
                </a:solidFill>
                <a:latin typeface="Calibri" pitchFamily="34" charset="0"/>
                <a:ea typeface="Calibri" pitchFamily="34" charset="-122"/>
                <a:cs typeface="Calibri" pitchFamily="34" charset="-120"/>
              </a:rPr>
              <a:t>Un valor imposible (asistencia negativa, horas &gt; 24) es inválido y ya se trató como inconsistencia. Un valor extremo real (muchas horas de estudio) es un dato legítimo que aporta información.</a:t>
            </a:r>
            <a:endParaRPr lang="en-US" sz="1150" dirty="0"/>
          </a:p>
        </p:txBody>
      </p:sp>
      <p:sp>
        <p:nvSpPr>
          <p:cNvPr id="11" name="Shape 8"/>
          <p:cNvSpPr/>
          <p:nvPr/>
        </p:nvSpPr>
        <p:spPr>
          <a:xfrm>
            <a:off x="7543800" y="4434840"/>
            <a:ext cx="3840480" cy="1783080"/>
          </a:xfrm>
          <a:prstGeom prst="roundRect">
            <a:avLst>
              <a:gd name="adj" fmla="val 4103"/>
            </a:avLst>
          </a:prstGeom>
          <a:solidFill>
            <a:srgbClr val="1B2A4A"/>
          </a:solidFill>
          <a:ln/>
        </p:spPr>
      </p:sp>
      <p:sp>
        <p:nvSpPr>
          <p:cNvPr id="12" name="Text 9"/>
          <p:cNvSpPr txBox="1"/>
          <p:nvPr/>
        </p:nvSpPr>
        <p:spPr>
          <a:xfrm>
            <a:off x="7726680" y="4553712"/>
            <a:ext cx="3474720" cy="274320"/>
          </a:xfrm>
          <a:prstGeom prst="rect">
            <a:avLst/>
          </a:prstGeom>
          <a:noFill/>
          <a:ln/>
        </p:spPr>
        <p:txBody>
          <a:bodyPr wrap="square" lIns="0" tIns="0" rIns="0" bIns="0" rtlCol="0" anchor="ctr"/>
          <a:lstStyle/>
          <a:p>
            <a:pPr indent="0" marL="0">
              <a:buNone/>
            </a:pPr>
            <a:r>
              <a:rPr lang="en-US" sz="1250" b="1" dirty="0">
                <a:solidFill>
                  <a:srgbClr val="E8A33D"/>
                </a:solidFill>
                <a:latin typeface="Cambria" pitchFamily="34" charset="0"/>
                <a:ea typeface="Cambria" pitchFamily="34" charset="-122"/>
                <a:cs typeface="Cambria" pitchFamily="34" charset="-120"/>
              </a:rPr>
              <a:t>Decisión</a:t>
            </a:r>
            <a:endParaRPr lang="en-US" sz="1250" dirty="0"/>
          </a:p>
        </p:txBody>
      </p:sp>
      <p:sp>
        <p:nvSpPr>
          <p:cNvPr id="13" name="Text 10"/>
          <p:cNvSpPr txBox="1"/>
          <p:nvPr/>
        </p:nvSpPr>
        <p:spPr>
          <a:xfrm>
            <a:off x="7726680" y="4846320"/>
            <a:ext cx="3474720" cy="1280160"/>
          </a:xfrm>
          <a:prstGeom prst="rect">
            <a:avLst/>
          </a:prstGeom>
          <a:noFill/>
          <a:ln/>
        </p:spPr>
        <p:txBody>
          <a:bodyPr wrap="square" lIns="0" tIns="0" rIns="0" bIns="0" rtlCol="0" anchor="ctr"/>
          <a:lstStyle/>
          <a:p>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No eliminar ni distorsionar: winsorizing suave (percentiles P1–P99) en el dataset legible, y RobustScaler en la matriz de modelamiento.</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02 · ANÁLISIS EXPLORATORIO</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Distribución de las variables</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08 / 15</a:t>
            </a:r>
            <a:endParaRPr lang="en-US" sz="900" dirty="0"/>
          </a:p>
        </p:txBody>
      </p:sp>
      <p:pic>
        <p:nvPicPr>
          <p:cNvPr id="5" name="Image 0" descr="imgs/cell25_0.png">    </p:cNvPr>
          <p:cNvPicPr>
            <a:picLocks noChangeAspect="1"/>
          </p:cNvPicPr>
          <p:nvPr/>
        </p:nvPicPr>
        <p:blipFill>
          <a:blip r:embed="rId1"/>
          <a:stretch>
            <a:fillRect/>
          </a:stretch>
        </p:blipFill>
        <p:spPr>
          <a:xfrm>
            <a:off x="548640" y="1572768"/>
            <a:ext cx="7223760" cy="3127248"/>
          </a:xfrm>
          <a:prstGeom prst="rect">
            <a:avLst/>
          </a:prstGeom>
          <a:effectLst>
            <a:outerShdw sx="100000" sy="100000" kx="0" ky="0" algn="bl" rotWithShape="0" blurRad="127000" dist="38100" dir="5400000">
              <a:srgbClr val="1B2A4A">
                <a:alpha val="35000"/>
              </a:srgbClr>
            </a:outerShdw>
          </a:effectLst>
        </p:spPr>
      </p:pic>
      <p:pic>
        <p:nvPicPr>
          <p:cNvPr id="6" name="Image 1" descr="imgs/cell28_0.png">    </p:cNvPr>
          <p:cNvPicPr>
            <a:picLocks noChangeAspect="1"/>
          </p:cNvPicPr>
          <p:nvPr/>
        </p:nvPicPr>
        <p:blipFill>
          <a:blip r:embed="rId2"/>
          <a:stretch>
            <a:fillRect/>
          </a:stretch>
        </p:blipFill>
        <p:spPr>
          <a:xfrm>
            <a:off x="548640" y="4828032"/>
            <a:ext cx="7223760" cy="1810512"/>
          </a:xfrm>
          <a:prstGeom prst="rect">
            <a:avLst/>
          </a:prstGeom>
          <a:effectLst>
            <a:outerShdw sx="100000" sy="100000" kx="0" ky="0" algn="bl" rotWithShape="0" blurRad="127000" dist="38100" dir="5400000">
              <a:srgbClr val="1B2A4A">
                <a:alpha val="35000"/>
              </a:srgbClr>
            </a:outerShdw>
          </a:effectLst>
        </p:spPr>
      </p:pic>
      <p:sp>
        <p:nvSpPr>
          <p:cNvPr id="7" name="Shape 3"/>
          <p:cNvSpPr/>
          <p:nvPr/>
        </p:nvSpPr>
        <p:spPr>
          <a:xfrm>
            <a:off x="8001000" y="1572768"/>
            <a:ext cx="3611880" cy="5056632"/>
          </a:xfrm>
          <a:prstGeom prst="roundRect">
            <a:avLst>
              <a:gd name="adj" fmla="val 2532"/>
            </a:avLst>
          </a:prstGeom>
          <a:solidFill>
            <a:srgbClr val="EAF1F8"/>
          </a:solidFill>
          <a:ln/>
        </p:spPr>
      </p:sp>
      <p:sp>
        <p:nvSpPr>
          <p:cNvPr id="8" name="Text 4"/>
          <p:cNvSpPr txBox="1"/>
          <p:nvPr/>
        </p:nvSpPr>
        <p:spPr>
          <a:xfrm>
            <a:off x="8229600" y="1737360"/>
            <a:ext cx="3200400" cy="32004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Lectura</a:t>
            </a:r>
            <a:endParaRPr lang="en-US" sz="1400" dirty="0"/>
          </a:p>
        </p:txBody>
      </p:sp>
      <p:sp>
        <p:nvSpPr>
          <p:cNvPr id="9" name="Text 5"/>
          <p:cNvSpPr txBox="1"/>
          <p:nvPr/>
        </p:nvSpPr>
        <p:spPr>
          <a:xfrm>
            <a:off x="8229600" y="2148840"/>
            <a:ext cx="3200400" cy="4297680"/>
          </a:xfrm>
          <a:prstGeom prst="rect">
            <a:avLst/>
          </a:prstGeom>
          <a:noFill/>
          <a:ln/>
        </p:spPr>
        <p:txBody>
          <a:bodyPr wrap="square" lIns="0" tIns="0" rIns="0" bIns="0" rtlCol="0" anchor="ctr"/>
          <a:lstStyle/>
          <a:p>
            <a:pPr indent="0" marL="0">
              <a:lnSpc>
                <a:spcPct val="130000"/>
              </a:lnSpc>
              <a:buNone/>
            </a:pPr>
            <a:r>
              <a:rPr lang="en-US" sz="1200" dirty="0">
                <a:solidFill>
                  <a:srgbClr val="1B2A4A"/>
                </a:solidFill>
                <a:latin typeface="Calibri" pitchFamily="34" charset="0"/>
                <a:ea typeface="Calibri" pitchFamily="34" charset="-122"/>
                <a:cs typeface="Calibri" pitchFamily="34" charset="-120"/>
              </a:rPr>
              <a:t>Las distribuciones numéricas son aproximadamente simétricas y unimodales.</a:t>
            </a:r>
            <a:endParaRPr lang="en-US" sz="1200" dirty="0"/>
          </a:p>
          <a:p>
            <a:pPr indent="0" marL="0">
              <a:lnSpc>
                <a:spcPct val="130000"/>
              </a:lnSpc>
              <a:buNone/>
            </a:pPr>
            <a:endParaRPr lang="en-US" sz="1200" dirty="0"/>
          </a:p>
          <a:p>
            <a:pPr indent="0" marL="0">
              <a:lnSpc>
                <a:spcPct val="130000"/>
              </a:lnSpc>
              <a:buNone/>
            </a:pPr>
            <a:r>
              <a:rPr lang="en-US" sz="1200" dirty="0">
                <a:solidFill>
                  <a:srgbClr val="1B2A4A"/>
                </a:solidFill>
                <a:latin typeface="Calibri" pitchFamily="34" charset="0"/>
                <a:ea typeface="Calibri" pitchFamily="34" charset="-122"/>
                <a:cs typeface="Calibri" pitchFamily="34" charset="-120"/>
              </a:rPr>
              <a:t>FinalGrade se centra cerca de 4.2 (escala 1–10).</a:t>
            </a:r>
            <a:endParaRPr lang="en-US" sz="1200" dirty="0"/>
          </a:p>
          <a:p>
            <a:pPr indent="0" marL="0">
              <a:lnSpc>
                <a:spcPct val="130000"/>
              </a:lnSpc>
              <a:buNone/>
            </a:pPr>
            <a:endParaRPr lang="en-US" sz="1200" dirty="0"/>
          </a:p>
          <a:p>
            <a:pPr indent="0" marL="0">
              <a:lnSpc>
                <a:spcPct val="130000"/>
              </a:lnSpc>
              <a:buNone/>
            </a:pPr>
            <a:r>
              <a:rPr lang="en-US" sz="1200" dirty="0">
                <a:solidFill>
                  <a:srgbClr val="1B2A4A"/>
                </a:solidFill>
                <a:latin typeface="Calibri" pitchFamily="34" charset="0"/>
                <a:ea typeface="Calibri" pitchFamily="34" charset="-122"/>
                <a:cs typeface="Calibri" pitchFamily="34" charset="-120"/>
              </a:rPr>
              <a:t>Predominan estudiantes sin beca (~68%).</a:t>
            </a:r>
            <a:endParaRPr lang="en-US" sz="1200" dirty="0"/>
          </a:p>
          <a:p>
            <a:pPr indent="0" marL="0">
              <a:lnSpc>
                <a:spcPct val="130000"/>
              </a:lnSpc>
              <a:buNone/>
            </a:pPr>
            <a:endParaRPr lang="en-US" sz="1200" dirty="0"/>
          </a:p>
          <a:p>
            <a:pPr indent="0" marL="0">
              <a:lnSpc>
                <a:spcPct val="130000"/>
              </a:lnSpc>
              <a:buNone/>
            </a:pPr>
            <a:r>
              <a:rPr lang="en-US" sz="1200" dirty="0">
                <a:solidFill>
                  <a:srgbClr val="1B2A4A"/>
                </a:solidFill>
                <a:latin typeface="Calibri" pitchFamily="34" charset="0"/>
                <a:ea typeface="Calibri" pitchFamily="34" charset="-122"/>
                <a:cs typeface="Calibri" pitchFamily="34" charset="-120"/>
              </a:rPr>
              <a:t>Ingeniería Informática es el programa más frecuente.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02 · ANÁLISIS EXPLORATORIO</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¿Qué variables se relacionan con FinalGrade?</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09 / 15</a:t>
            </a:r>
            <a:endParaRPr lang="en-US" sz="900" dirty="0"/>
          </a:p>
        </p:txBody>
      </p:sp>
      <p:pic>
        <p:nvPicPr>
          <p:cNvPr id="5" name="Image 0" descr="imgs/cell31_0.png">    </p:cNvPr>
          <p:cNvPicPr>
            <a:picLocks noChangeAspect="1"/>
          </p:cNvPicPr>
          <p:nvPr/>
        </p:nvPicPr>
        <p:blipFill>
          <a:blip r:embed="rId1"/>
          <a:stretch>
            <a:fillRect/>
          </a:stretch>
        </p:blipFill>
        <p:spPr>
          <a:xfrm>
            <a:off x="548640" y="1645920"/>
            <a:ext cx="5029200" cy="4572000"/>
          </a:xfrm>
          <a:prstGeom prst="rect">
            <a:avLst/>
          </a:prstGeom>
          <a:effectLst>
            <a:outerShdw sx="100000" sy="100000" kx="0" ky="0" algn="bl" rotWithShape="0" blurRad="127000" dist="38100" dir="5400000">
              <a:srgbClr val="1B2A4A">
                <a:alpha val="35000"/>
              </a:srgbClr>
            </a:outerShdw>
          </a:effectLst>
        </p:spPr>
      </p:pic>
      <p:sp>
        <p:nvSpPr>
          <p:cNvPr id="6" name="Shape 3"/>
          <p:cNvSpPr/>
          <p:nvPr/>
        </p:nvSpPr>
        <p:spPr>
          <a:xfrm>
            <a:off x="5943600" y="1645920"/>
            <a:ext cx="5669280" cy="4572000"/>
          </a:xfrm>
          <a:prstGeom prst="roundRect">
            <a:avLst>
              <a:gd name="adj" fmla="val 2000"/>
            </a:avLst>
          </a:prstGeom>
          <a:solidFill>
            <a:srgbClr val="EAF1F8"/>
          </a:solidFill>
          <a:ln/>
        </p:spPr>
      </p:sp>
      <p:sp>
        <p:nvSpPr>
          <p:cNvPr id="7" name="Text 4"/>
          <p:cNvSpPr txBox="1"/>
          <p:nvPr/>
        </p:nvSpPr>
        <p:spPr>
          <a:xfrm>
            <a:off x="6217920" y="1810512"/>
            <a:ext cx="5120640" cy="32004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Correlación de Pearson con FinalGrade</a:t>
            </a:r>
            <a:endParaRPr lang="en-US" sz="1400" dirty="0"/>
          </a:p>
        </p:txBody>
      </p:sp>
      <p:sp>
        <p:nvSpPr>
          <p:cNvPr id="8" name="Text 5"/>
          <p:cNvSpPr txBox="1"/>
          <p:nvPr/>
        </p:nvSpPr>
        <p:spPr>
          <a:xfrm>
            <a:off x="6217920" y="2286000"/>
            <a:ext cx="2514600" cy="329184"/>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AssignmentsCompleted</a:t>
            </a:r>
            <a:endParaRPr lang="en-US" sz="1150" dirty="0"/>
          </a:p>
        </p:txBody>
      </p:sp>
      <p:sp>
        <p:nvSpPr>
          <p:cNvPr id="9" name="Shape 6"/>
          <p:cNvSpPr/>
          <p:nvPr/>
        </p:nvSpPr>
        <p:spPr>
          <a:xfrm>
            <a:off x="8869680" y="2359152"/>
            <a:ext cx="1600017" cy="182880"/>
          </a:xfrm>
          <a:prstGeom prst="roundRect">
            <a:avLst>
              <a:gd name="adj" fmla="val 15000"/>
            </a:avLst>
          </a:prstGeom>
          <a:solidFill>
            <a:srgbClr val="E8A33D"/>
          </a:solidFill>
          <a:ln/>
        </p:spPr>
      </p:sp>
      <p:sp>
        <p:nvSpPr>
          <p:cNvPr id="10" name="Text 7"/>
          <p:cNvSpPr txBox="1"/>
          <p:nvPr/>
        </p:nvSpPr>
        <p:spPr>
          <a:xfrm>
            <a:off x="11338560" y="2286000"/>
            <a:ext cx="640080" cy="32918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0.673</a:t>
            </a:r>
            <a:endParaRPr lang="en-US" sz="1100" dirty="0"/>
          </a:p>
        </p:txBody>
      </p:sp>
      <p:sp>
        <p:nvSpPr>
          <p:cNvPr id="11" name="Text 8"/>
          <p:cNvSpPr txBox="1"/>
          <p:nvPr/>
        </p:nvSpPr>
        <p:spPr>
          <a:xfrm>
            <a:off x="6217920" y="2706624"/>
            <a:ext cx="2514600" cy="329184"/>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PreviousGPA</a:t>
            </a:r>
            <a:endParaRPr lang="en-US" sz="1150" dirty="0"/>
          </a:p>
        </p:txBody>
      </p:sp>
      <p:sp>
        <p:nvSpPr>
          <p:cNvPr id="12" name="Shape 9"/>
          <p:cNvSpPr/>
          <p:nvPr/>
        </p:nvSpPr>
        <p:spPr>
          <a:xfrm>
            <a:off x="8869680" y="2779776"/>
            <a:ext cx="1542959" cy="182880"/>
          </a:xfrm>
          <a:prstGeom prst="roundRect">
            <a:avLst>
              <a:gd name="adj" fmla="val 15000"/>
            </a:avLst>
          </a:prstGeom>
          <a:solidFill>
            <a:srgbClr val="E8A33D"/>
          </a:solidFill>
          <a:ln/>
        </p:spPr>
      </p:sp>
      <p:sp>
        <p:nvSpPr>
          <p:cNvPr id="13" name="Text 10"/>
          <p:cNvSpPr txBox="1"/>
          <p:nvPr/>
        </p:nvSpPr>
        <p:spPr>
          <a:xfrm>
            <a:off x="11338560" y="2706624"/>
            <a:ext cx="640080" cy="32918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0.649</a:t>
            </a:r>
            <a:endParaRPr lang="en-US" sz="1100" dirty="0"/>
          </a:p>
        </p:txBody>
      </p:sp>
      <p:sp>
        <p:nvSpPr>
          <p:cNvPr id="14" name="Text 11"/>
          <p:cNvSpPr txBox="1"/>
          <p:nvPr/>
        </p:nvSpPr>
        <p:spPr>
          <a:xfrm>
            <a:off x="6217920" y="3127248"/>
            <a:ext cx="2514600" cy="329184"/>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Attendance</a:t>
            </a:r>
            <a:endParaRPr lang="en-US" sz="1150" dirty="0"/>
          </a:p>
        </p:txBody>
      </p:sp>
      <p:sp>
        <p:nvSpPr>
          <p:cNvPr id="15" name="Shape 12"/>
          <p:cNvSpPr/>
          <p:nvPr/>
        </p:nvSpPr>
        <p:spPr>
          <a:xfrm>
            <a:off x="8869680" y="3200400"/>
            <a:ext cx="1478768" cy="182880"/>
          </a:xfrm>
          <a:prstGeom prst="roundRect">
            <a:avLst>
              <a:gd name="adj" fmla="val 15000"/>
            </a:avLst>
          </a:prstGeom>
          <a:solidFill>
            <a:srgbClr val="E8A33D"/>
          </a:solidFill>
          <a:ln/>
        </p:spPr>
      </p:sp>
      <p:sp>
        <p:nvSpPr>
          <p:cNvPr id="16" name="Text 13"/>
          <p:cNvSpPr txBox="1"/>
          <p:nvPr/>
        </p:nvSpPr>
        <p:spPr>
          <a:xfrm>
            <a:off x="11338560" y="3127248"/>
            <a:ext cx="640080" cy="32918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0.622</a:t>
            </a:r>
            <a:endParaRPr lang="en-US" sz="1100" dirty="0"/>
          </a:p>
        </p:txBody>
      </p:sp>
      <p:sp>
        <p:nvSpPr>
          <p:cNvPr id="17" name="Text 14"/>
          <p:cNvSpPr txBox="1"/>
          <p:nvPr/>
        </p:nvSpPr>
        <p:spPr>
          <a:xfrm>
            <a:off x="6217920" y="3547872"/>
            <a:ext cx="2514600" cy="329184"/>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StudyHours</a:t>
            </a:r>
            <a:endParaRPr lang="en-US" sz="1150" dirty="0"/>
          </a:p>
        </p:txBody>
      </p:sp>
      <p:sp>
        <p:nvSpPr>
          <p:cNvPr id="18" name="Shape 15"/>
          <p:cNvSpPr/>
          <p:nvPr/>
        </p:nvSpPr>
        <p:spPr>
          <a:xfrm>
            <a:off x="8869680" y="3621024"/>
            <a:ext cx="1153058" cy="182880"/>
          </a:xfrm>
          <a:prstGeom prst="roundRect">
            <a:avLst>
              <a:gd name="adj" fmla="val 15000"/>
            </a:avLst>
          </a:prstGeom>
          <a:solidFill>
            <a:srgbClr val="E8A33D"/>
          </a:solidFill>
          <a:ln/>
        </p:spPr>
      </p:sp>
      <p:sp>
        <p:nvSpPr>
          <p:cNvPr id="19" name="Text 16"/>
          <p:cNvSpPr txBox="1"/>
          <p:nvPr/>
        </p:nvSpPr>
        <p:spPr>
          <a:xfrm>
            <a:off x="11338560" y="3547872"/>
            <a:ext cx="640080" cy="32918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0.485</a:t>
            </a:r>
            <a:endParaRPr lang="en-US" sz="1100" dirty="0"/>
          </a:p>
        </p:txBody>
      </p:sp>
      <p:sp>
        <p:nvSpPr>
          <p:cNvPr id="20" name="Text 17"/>
          <p:cNvSpPr txBox="1"/>
          <p:nvPr/>
        </p:nvSpPr>
        <p:spPr>
          <a:xfrm>
            <a:off x="6217920" y="3968496"/>
            <a:ext cx="2514600" cy="329184"/>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SleepHours</a:t>
            </a:r>
            <a:endParaRPr lang="en-US" sz="1150" dirty="0"/>
          </a:p>
        </p:txBody>
      </p:sp>
      <p:sp>
        <p:nvSpPr>
          <p:cNvPr id="21" name="Shape 18"/>
          <p:cNvSpPr/>
          <p:nvPr/>
        </p:nvSpPr>
        <p:spPr>
          <a:xfrm>
            <a:off x="8869680" y="4041648"/>
            <a:ext cx="232989" cy="182880"/>
          </a:xfrm>
          <a:prstGeom prst="roundRect">
            <a:avLst>
              <a:gd name="adj" fmla="val 15000"/>
            </a:avLst>
          </a:prstGeom>
          <a:solidFill>
            <a:srgbClr val="3E7CB1"/>
          </a:solidFill>
          <a:ln/>
        </p:spPr>
      </p:sp>
      <p:sp>
        <p:nvSpPr>
          <p:cNvPr id="22" name="Text 19"/>
          <p:cNvSpPr txBox="1"/>
          <p:nvPr/>
        </p:nvSpPr>
        <p:spPr>
          <a:xfrm>
            <a:off x="11338560" y="3968496"/>
            <a:ext cx="640080" cy="32918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0.098</a:t>
            </a:r>
            <a:endParaRPr lang="en-US" sz="1100" dirty="0"/>
          </a:p>
        </p:txBody>
      </p:sp>
      <p:sp>
        <p:nvSpPr>
          <p:cNvPr id="23" name="Text 20"/>
          <p:cNvSpPr txBox="1"/>
          <p:nvPr/>
        </p:nvSpPr>
        <p:spPr>
          <a:xfrm>
            <a:off x="6217920" y="4389120"/>
            <a:ext cx="2514600" cy="329184"/>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InternetHours</a:t>
            </a:r>
            <a:endParaRPr lang="en-US" sz="1150" dirty="0"/>
          </a:p>
        </p:txBody>
      </p:sp>
      <p:sp>
        <p:nvSpPr>
          <p:cNvPr id="24" name="Shape 21"/>
          <p:cNvSpPr/>
          <p:nvPr/>
        </p:nvSpPr>
        <p:spPr>
          <a:xfrm>
            <a:off x="8869680" y="4462272"/>
            <a:ext cx="36576" cy="182880"/>
          </a:xfrm>
          <a:prstGeom prst="roundRect">
            <a:avLst>
              <a:gd name="adj" fmla="val 75000"/>
            </a:avLst>
          </a:prstGeom>
          <a:solidFill>
            <a:srgbClr val="3E7CB1"/>
          </a:solidFill>
          <a:ln/>
        </p:spPr>
      </p:sp>
      <p:sp>
        <p:nvSpPr>
          <p:cNvPr id="25" name="Text 22"/>
          <p:cNvSpPr txBox="1"/>
          <p:nvPr/>
        </p:nvSpPr>
        <p:spPr>
          <a:xfrm>
            <a:off x="11338560" y="4389120"/>
            <a:ext cx="640080" cy="32918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0.013</a:t>
            </a:r>
            <a:endParaRPr lang="en-US" sz="1100" dirty="0"/>
          </a:p>
        </p:txBody>
      </p:sp>
      <p:sp>
        <p:nvSpPr>
          <p:cNvPr id="26" name="Text 23"/>
          <p:cNvSpPr txBox="1"/>
          <p:nvPr/>
        </p:nvSpPr>
        <p:spPr>
          <a:xfrm>
            <a:off x="6217920" y="4809744"/>
            <a:ext cx="2514600" cy="329184"/>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Age</a:t>
            </a:r>
            <a:endParaRPr lang="en-US" sz="1150" dirty="0"/>
          </a:p>
        </p:txBody>
      </p:sp>
      <p:sp>
        <p:nvSpPr>
          <p:cNvPr id="27" name="Shape 24"/>
          <p:cNvSpPr/>
          <p:nvPr/>
        </p:nvSpPr>
        <p:spPr>
          <a:xfrm>
            <a:off x="8869680" y="4882896"/>
            <a:ext cx="36576" cy="182880"/>
          </a:xfrm>
          <a:prstGeom prst="roundRect">
            <a:avLst>
              <a:gd name="adj" fmla="val 75000"/>
            </a:avLst>
          </a:prstGeom>
          <a:solidFill>
            <a:srgbClr val="5B6B82"/>
          </a:solidFill>
          <a:ln/>
        </p:spPr>
      </p:sp>
      <p:sp>
        <p:nvSpPr>
          <p:cNvPr id="28" name="Text 25"/>
          <p:cNvSpPr txBox="1"/>
          <p:nvPr/>
        </p:nvSpPr>
        <p:spPr>
          <a:xfrm>
            <a:off x="11338560" y="4809744"/>
            <a:ext cx="640080" cy="32918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-0.007</a:t>
            </a:r>
            <a:endParaRPr lang="en-US" sz="1100" dirty="0"/>
          </a:p>
        </p:txBody>
      </p:sp>
      <p:sp>
        <p:nvSpPr>
          <p:cNvPr id="29" name="Text 26"/>
          <p:cNvSpPr txBox="1"/>
          <p:nvPr/>
        </p:nvSpPr>
        <p:spPr>
          <a:xfrm>
            <a:off x="6217920" y="5806440"/>
            <a:ext cx="5120640" cy="365760"/>
          </a:xfrm>
          <a:prstGeom prst="rect">
            <a:avLst/>
          </a:prstGeom>
          <a:noFill/>
          <a:ln/>
        </p:spPr>
        <p:txBody>
          <a:bodyPr wrap="square" lIns="0" tIns="0" rIns="0" bIns="0" rtlCol="0" anchor="ctr"/>
          <a:lstStyle/>
          <a:p>
            <a:pPr indent="0" marL="0">
              <a:buNone/>
            </a:pPr>
            <a:r>
              <a:rPr lang="en-US" sz="1150" i="1" dirty="0">
                <a:solidFill>
                  <a:srgbClr val="5B6B82"/>
                </a:solidFill>
                <a:latin typeface="Calibri" pitchFamily="34" charset="0"/>
                <a:ea typeface="Calibri" pitchFamily="34" charset="-122"/>
                <a:cs typeface="Calibri" pitchFamily="34" charset="-120"/>
              </a:rPr>
              <a:t>El esfuerzo académico (tareas, GPA previo, asistencia) es lo más asociado a la nota.</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02 · PREGUNTAS DE INVESTIGACIÓN</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¿Influyen la beca y el programa académico?</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10 / 15</a:t>
            </a:r>
            <a:endParaRPr lang="en-US" sz="900" dirty="0"/>
          </a:p>
        </p:txBody>
      </p:sp>
      <p:sp>
        <p:nvSpPr>
          <p:cNvPr id="5" name="Shape 3"/>
          <p:cNvSpPr/>
          <p:nvPr/>
        </p:nvSpPr>
        <p:spPr>
          <a:xfrm>
            <a:off x="548640" y="1600200"/>
            <a:ext cx="5349240" cy="4709160"/>
          </a:xfrm>
          <a:prstGeom prst="roundRect">
            <a:avLst>
              <a:gd name="adj" fmla="val 1942"/>
            </a:avLst>
          </a:prstGeom>
          <a:solidFill>
            <a:srgbClr val="EAF1F8"/>
          </a:solidFill>
          <a:ln/>
        </p:spPr>
      </p:sp>
      <p:sp>
        <p:nvSpPr>
          <p:cNvPr id="6" name="Shape 4"/>
          <p:cNvSpPr/>
          <p:nvPr/>
        </p:nvSpPr>
        <p:spPr>
          <a:xfrm>
            <a:off x="777240" y="1810512"/>
            <a:ext cx="457200" cy="457200"/>
          </a:xfrm>
          <a:prstGeom prst="ellipse">
            <a:avLst/>
          </a:prstGeom>
          <a:solidFill>
            <a:srgbClr val="E8A33D"/>
          </a:solidFill>
          <a:ln/>
        </p:spPr>
      </p:sp>
      <p:sp>
        <p:nvSpPr>
          <p:cNvPr id="7" name="Text 5"/>
          <p:cNvSpPr txBox="1"/>
          <p:nvPr/>
        </p:nvSpPr>
        <p:spPr>
          <a:xfrm>
            <a:off x="777240" y="1810512"/>
            <a:ext cx="457200" cy="45720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pitchFamily="34" charset="0"/>
                <a:ea typeface="Cambria" pitchFamily="34" charset="-122"/>
                <a:cs typeface="Cambria" pitchFamily="34" charset="-120"/>
              </a:rPr>
              <a:t>P1</a:t>
            </a:r>
            <a:endParaRPr lang="en-US" sz="1400" dirty="0"/>
          </a:p>
        </p:txBody>
      </p:sp>
      <p:sp>
        <p:nvSpPr>
          <p:cNvPr id="8" name="Text 6"/>
          <p:cNvSpPr txBox="1"/>
          <p:nvPr/>
        </p:nvSpPr>
        <p:spPr>
          <a:xfrm>
            <a:off x="1371600" y="1810512"/>
            <a:ext cx="4297680" cy="45720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Beca vs. sin beca</a:t>
            </a:r>
            <a:endParaRPr lang="en-US" sz="1500" dirty="0"/>
          </a:p>
        </p:txBody>
      </p:sp>
      <p:pic>
        <p:nvPicPr>
          <p:cNvPr id="9" name="Image 0" descr="imgs/cell35_1.png">    </p:cNvPr>
          <p:cNvPicPr>
            <a:picLocks noChangeAspect="1"/>
          </p:cNvPicPr>
          <p:nvPr/>
        </p:nvPicPr>
        <p:blipFill>
          <a:blip r:embed="rId1"/>
          <a:stretch>
            <a:fillRect/>
          </a:stretch>
        </p:blipFill>
        <p:spPr>
          <a:xfrm>
            <a:off x="960120" y="2423160"/>
            <a:ext cx="2834640" cy="2148840"/>
          </a:xfrm>
          <a:prstGeom prst="rect">
            <a:avLst/>
          </a:prstGeom>
          <a:effectLst>
            <a:outerShdw sx="100000" sy="100000" kx="0" ky="0" algn="bl" rotWithShape="0" blurRad="127000" dist="38100" dir="5400000">
              <a:srgbClr val="1B2A4A">
                <a:alpha val="35000"/>
              </a:srgbClr>
            </a:outerShdw>
          </a:effectLst>
        </p:spPr>
      </p:pic>
      <p:sp>
        <p:nvSpPr>
          <p:cNvPr id="10" name="Text 7"/>
          <p:cNvSpPr txBox="1"/>
          <p:nvPr/>
        </p:nvSpPr>
        <p:spPr>
          <a:xfrm>
            <a:off x="3977640" y="2514600"/>
            <a:ext cx="1783080" cy="1005840"/>
          </a:xfrm>
          <a:prstGeom prst="rect">
            <a:avLst/>
          </a:prstGeom>
          <a:noFill/>
          <a:ln/>
        </p:spPr>
        <p:txBody>
          <a:bodyPr wrap="square" lIns="0" tIns="0" rIns="0" bIns="0" rtlCol="0" anchor="ctr"/>
          <a:lstStyle/>
          <a:p>
            <a:pPr indent="0" marL="0">
              <a:lnSpc>
                <a:spcPct val="120000"/>
              </a:lnSpc>
              <a:buNone/>
            </a:pPr>
            <a:r>
              <a:rPr lang="en-US" sz="1150" b="1" dirty="0">
                <a:solidFill>
                  <a:srgbClr val="1B2A4A"/>
                </a:solidFill>
                <a:latin typeface="Calibri" pitchFamily="34" charset="0"/>
                <a:ea typeface="Calibri" pitchFamily="34" charset="-122"/>
                <a:cs typeface="Calibri" pitchFamily="34" charset="-120"/>
              </a:rPr>
              <a:t>Becados: 4.37   </a:t>
            </a:r>
            <a:pPr indent="0" marL="0">
              <a:lnSpc>
                <a:spcPct val="120000"/>
              </a:lnSpc>
              <a:buNone/>
            </a:pPr>
            <a:r>
              <a:rPr lang="en-US" sz="1150" dirty="0">
                <a:solidFill>
                  <a:srgbClr val="5B6B82"/>
                </a:solidFill>
                <a:latin typeface="Calibri" pitchFamily="34" charset="0"/>
                <a:ea typeface="Calibri" pitchFamily="34" charset="-122"/>
                <a:cs typeface="Calibri" pitchFamily="34" charset="-120"/>
              </a:rPr>
              <a:t>vs.  Sin beca: 4.08</a:t>
            </a:r>
            <a:endParaRPr lang="en-US" sz="1150" dirty="0"/>
          </a:p>
        </p:txBody>
      </p:sp>
      <p:sp>
        <p:nvSpPr>
          <p:cNvPr id="11" name="Text 8"/>
          <p:cNvSpPr txBox="1"/>
          <p:nvPr/>
        </p:nvSpPr>
        <p:spPr>
          <a:xfrm>
            <a:off x="960120" y="4709160"/>
            <a:ext cx="4709160" cy="1417320"/>
          </a:xfrm>
          <a:prstGeom prst="rect">
            <a:avLst/>
          </a:prstGeom>
          <a:noFill/>
          <a:ln/>
        </p:spPr>
        <p:txBody>
          <a:bodyPr wrap="square" lIns="0" tIns="0" rIns="0" bIns="0" rtlCol="0" anchor="ctr"/>
          <a:lstStyle/>
          <a:p>
            <a:pPr indent="0" marL="0">
              <a:lnSpc>
                <a:spcPct val="125000"/>
              </a:lnSpc>
              <a:buNone/>
            </a:pPr>
            <a:r>
              <a:rPr lang="en-US" sz="1200" dirty="0">
                <a:solidFill>
                  <a:srgbClr val="1B2A4A"/>
                </a:solidFill>
                <a:latin typeface="Calibri" pitchFamily="34" charset="0"/>
                <a:ea typeface="Calibri" pitchFamily="34" charset="-122"/>
                <a:cs typeface="Calibri" pitchFamily="34" charset="-120"/>
              </a:rPr>
              <a:t>Diferencia: +0.29 pts a favor de becados. Estadísticamente significativa (p ≈ 1.5e-23).</a:t>
            </a:r>
            <a:endParaRPr lang="en-US" sz="1200" dirty="0"/>
          </a:p>
        </p:txBody>
      </p:sp>
      <p:sp>
        <p:nvSpPr>
          <p:cNvPr id="12" name="Shape 9"/>
          <p:cNvSpPr/>
          <p:nvPr/>
        </p:nvSpPr>
        <p:spPr>
          <a:xfrm>
            <a:off x="6126480" y="1600200"/>
            <a:ext cx="5486400" cy="4709160"/>
          </a:xfrm>
          <a:prstGeom prst="roundRect">
            <a:avLst>
              <a:gd name="adj" fmla="val 1942"/>
            </a:avLst>
          </a:prstGeom>
          <a:solidFill>
            <a:srgbClr val="1B2A4A"/>
          </a:solidFill>
          <a:ln/>
        </p:spPr>
      </p:sp>
      <p:sp>
        <p:nvSpPr>
          <p:cNvPr id="13" name="Shape 10"/>
          <p:cNvSpPr/>
          <p:nvPr/>
        </p:nvSpPr>
        <p:spPr>
          <a:xfrm>
            <a:off x="6355080" y="1810512"/>
            <a:ext cx="457200" cy="457200"/>
          </a:xfrm>
          <a:prstGeom prst="ellipse">
            <a:avLst/>
          </a:prstGeom>
          <a:solidFill>
            <a:srgbClr val="E8A33D"/>
          </a:solidFill>
          <a:ln/>
        </p:spPr>
      </p:sp>
      <p:sp>
        <p:nvSpPr>
          <p:cNvPr id="14" name="Text 11"/>
          <p:cNvSpPr txBox="1"/>
          <p:nvPr/>
        </p:nvSpPr>
        <p:spPr>
          <a:xfrm>
            <a:off x="6355080" y="1810512"/>
            <a:ext cx="457200" cy="45720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pitchFamily="34" charset="0"/>
                <a:ea typeface="Cambria" pitchFamily="34" charset="-122"/>
                <a:cs typeface="Cambria" pitchFamily="34" charset="-120"/>
              </a:rPr>
              <a:t>P2</a:t>
            </a:r>
            <a:endParaRPr lang="en-US" sz="1400" dirty="0"/>
          </a:p>
        </p:txBody>
      </p:sp>
      <p:sp>
        <p:nvSpPr>
          <p:cNvPr id="15" name="Text 12"/>
          <p:cNvSpPr txBox="1"/>
          <p:nvPr/>
        </p:nvSpPr>
        <p:spPr>
          <a:xfrm>
            <a:off x="6949440" y="1810512"/>
            <a:ext cx="448056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Programa académico</a:t>
            </a:r>
            <a:endParaRPr lang="en-US" sz="1500" dirty="0"/>
          </a:p>
        </p:txBody>
      </p:sp>
      <p:pic>
        <p:nvPicPr>
          <p:cNvPr id="16" name="Image 1" descr="imgs/cell38_1.png">    </p:cNvPr>
          <p:cNvPicPr>
            <a:picLocks noChangeAspect="1"/>
          </p:cNvPicPr>
          <p:nvPr/>
        </p:nvPicPr>
        <p:blipFill>
          <a:blip r:embed="rId2"/>
          <a:stretch>
            <a:fillRect/>
          </a:stretch>
        </p:blipFill>
        <p:spPr>
          <a:xfrm>
            <a:off x="6492240" y="2423160"/>
            <a:ext cx="4754880" cy="2331720"/>
          </a:xfrm>
          <a:prstGeom prst="rect">
            <a:avLst/>
          </a:prstGeom>
          <a:effectLst>
            <a:outerShdw sx="100000" sy="100000" kx="0" ky="0" algn="bl" rotWithShape="0" blurRad="127000" dist="38100" dir="5400000">
              <a:srgbClr val="1B2A4A">
                <a:alpha val="35000"/>
              </a:srgbClr>
            </a:outerShdw>
          </a:effectLst>
        </p:spPr>
      </p:pic>
      <p:sp>
        <p:nvSpPr>
          <p:cNvPr id="17" name="Text 13"/>
          <p:cNvSpPr txBox="1"/>
          <p:nvPr/>
        </p:nvSpPr>
        <p:spPr>
          <a:xfrm>
            <a:off x="6492240" y="4937760"/>
            <a:ext cx="4846320" cy="1280160"/>
          </a:xfrm>
          <a:prstGeom prst="rect">
            <a:avLst/>
          </a:prstGeom>
          <a:noFill/>
          <a:ln/>
        </p:spPr>
        <p:txBody>
          <a:bodyPr wrap="square" lIns="0" tIns="0" rIns="0" bIns="0" rtlCol="0" anchor="ctr"/>
          <a:lstStyle/>
          <a:p>
            <a:pPr indent="0" marL="0">
              <a:lnSpc>
                <a:spcPct val="125000"/>
              </a:lnSpc>
              <a:buNone/>
            </a:pPr>
            <a:r>
              <a:rPr lang="en-US" sz="1200" dirty="0">
                <a:solidFill>
                  <a:srgbClr val="EAF1F8"/>
                </a:solidFill>
                <a:latin typeface="Calibri" pitchFamily="34" charset="0"/>
                <a:ea typeface="Calibri" pitchFamily="34" charset="-122"/>
                <a:cs typeface="Calibri" pitchFamily="34" charset="-120"/>
              </a:rPr>
              <a:t>Mayor promedio: Administración (4.23)   ·   Menor: Contador Auditor (4.05)</a:t>
            </a:r>
            <a:endParaRPr lang="en-US" sz="1200" dirty="0"/>
          </a:p>
          <a:p>
            <a:pPr indent="0" marL="0">
              <a:lnSpc>
                <a:spcPct val="125000"/>
              </a:lnSpc>
              <a:buNone/>
            </a:pPr>
            <a:r>
              <a:rPr lang="en-US" sz="1200" dirty="0">
                <a:solidFill>
                  <a:srgbClr val="EAF1F8"/>
                </a:solidFill>
                <a:latin typeface="Calibri" pitchFamily="34" charset="0"/>
                <a:ea typeface="Calibri" pitchFamily="34" charset="-122"/>
                <a:cs typeface="Calibri" pitchFamily="34" charset="-120"/>
              </a:rPr>
              <a:t>Diferencia: 0.19 pts — significativa (ANOVA p &lt; 0.001), pero pequeña frente al efecto del esfuerzo académico.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02 · PREGUNTAS DE INVESTIGACIÓN</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¿Influyen las horas de estudio y la asistencia?</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11 / 15</a:t>
            </a:r>
            <a:endParaRPr lang="en-US" sz="900" dirty="0"/>
          </a:p>
        </p:txBody>
      </p:sp>
      <p:sp>
        <p:nvSpPr>
          <p:cNvPr id="5" name="Shape 3"/>
          <p:cNvSpPr/>
          <p:nvPr/>
        </p:nvSpPr>
        <p:spPr>
          <a:xfrm>
            <a:off x="548640" y="1600200"/>
            <a:ext cx="5349240" cy="4709160"/>
          </a:xfrm>
          <a:prstGeom prst="roundRect">
            <a:avLst>
              <a:gd name="adj" fmla="val 1942"/>
            </a:avLst>
          </a:prstGeom>
          <a:solidFill>
            <a:srgbClr val="EAF1F8"/>
          </a:solidFill>
          <a:ln/>
        </p:spPr>
      </p:sp>
      <p:sp>
        <p:nvSpPr>
          <p:cNvPr id="6" name="Shape 4"/>
          <p:cNvSpPr/>
          <p:nvPr/>
        </p:nvSpPr>
        <p:spPr>
          <a:xfrm>
            <a:off x="777240" y="1810512"/>
            <a:ext cx="457200" cy="457200"/>
          </a:xfrm>
          <a:prstGeom prst="ellipse">
            <a:avLst/>
          </a:prstGeom>
          <a:solidFill>
            <a:srgbClr val="E8A33D"/>
          </a:solidFill>
          <a:ln/>
        </p:spPr>
      </p:sp>
      <p:sp>
        <p:nvSpPr>
          <p:cNvPr id="7" name="Text 5"/>
          <p:cNvSpPr txBox="1"/>
          <p:nvPr/>
        </p:nvSpPr>
        <p:spPr>
          <a:xfrm>
            <a:off x="777240" y="1810512"/>
            <a:ext cx="457200" cy="45720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pitchFamily="34" charset="0"/>
                <a:ea typeface="Cambria" pitchFamily="34" charset="-122"/>
                <a:cs typeface="Cambria" pitchFamily="34" charset="-120"/>
              </a:rPr>
              <a:t>P3</a:t>
            </a:r>
            <a:endParaRPr lang="en-US" sz="1400" dirty="0"/>
          </a:p>
        </p:txBody>
      </p:sp>
      <p:sp>
        <p:nvSpPr>
          <p:cNvPr id="8" name="Text 6"/>
          <p:cNvSpPr txBox="1"/>
          <p:nvPr/>
        </p:nvSpPr>
        <p:spPr>
          <a:xfrm>
            <a:off x="1371600" y="1810512"/>
            <a:ext cx="4297680" cy="45720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StudyHours</a:t>
            </a:r>
            <a:endParaRPr lang="en-US" sz="1500" dirty="0"/>
          </a:p>
        </p:txBody>
      </p:sp>
      <p:pic>
        <p:nvPicPr>
          <p:cNvPr id="9" name="Image 0" descr="imgs/cell41_1.png">    </p:cNvPr>
          <p:cNvPicPr>
            <a:picLocks noChangeAspect="1"/>
          </p:cNvPicPr>
          <p:nvPr/>
        </p:nvPicPr>
        <p:blipFill>
          <a:blip r:embed="rId1"/>
          <a:stretch>
            <a:fillRect/>
          </a:stretch>
        </p:blipFill>
        <p:spPr>
          <a:xfrm>
            <a:off x="1188720" y="2423160"/>
            <a:ext cx="3520440" cy="2724912"/>
          </a:xfrm>
          <a:prstGeom prst="rect">
            <a:avLst/>
          </a:prstGeom>
          <a:effectLst>
            <a:outerShdw sx="100000" sy="100000" kx="0" ky="0" algn="bl" rotWithShape="0" blurRad="127000" dist="38100" dir="5400000">
              <a:srgbClr val="1B2A4A">
                <a:alpha val="35000"/>
              </a:srgbClr>
            </a:outerShdw>
          </a:effectLst>
        </p:spPr>
      </p:pic>
      <p:sp>
        <p:nvSpPr>
          <p:cNvPr id="10" name="Text 7"/>
          <p:cNvSpPr txBox="1"/>
          <p:nvPr/>
        </p:nvSpPr>
        <p:spPr>
          <a:xfrm>
            <a:off x="960120" y="5257800"/>
            <a:ext cx="4709160" cy="914400"/>
          </a:xfrm>
          <a:prstGeom prst="rect">
            <a:avLst/>
          </a:prstGeom>
          <a:noFill/>
          <a:ln/>
        </p:spPr>
        <p:txBody>
          <a:bodyPr wrap="square" lIns="0" tIns="0" rIns="0" bIns="0" rtlCol="0" anchor="ctr"/>
          <a:lstStyle/>
          <a:p>
            <a:pPr indent="0" marL="0">
              <a:lnSpc>
                <a:spcPct val="125000"/>
              </a:lnSpc>
              <a:buNone/>
            </a:pPr>
            <a:r>
              <a:rPr lang="en-US" sz="1200" dirty="0">
                <a:solidFill>
                  <a:srgbClr val="1B2A4A"/>
                </a:solidFill>
                <a:latin typeface="Calibri" pitchFamily="34" charset="0"/>
                <a:ea typeface="Calibri" pitchFamily="34" charset="-122"/>
                <a:cs typeface="Calibri" pitchFamily="34" charset="-120"/>
              </a:rPr>
              <a:t>Relación positiva moderada: Pearson r = 0.485 (Spearman = 0.697). A más horas de estudio, mejor nota.</a:t>
            </a:r>
            <a:endParaRPr lang="en-US" sz="1200" dirty="0"/>
          </a:p>
        </p:txBody>
      </p:sp>
      <p:sp>
        <p:nvSpPr>
          <p:cNvPr id="11" name="Shape 8"/>
          <p:cNvSpPr/>
          <p:nvPr/>
        </p:nvSpPr>
        <p:spPr>
          <a:xfrm>
            <a:off x="6126480" y="1600200"/>
            <a:ext cx="5486400" cy="4709160"/>
          </a:xfrm>
          <a:prstGeom prst="roundRect">
            <a:avLst>
              <a:gd name="adj" fmla="val 1942"/>
            </a:avLst>
          </a:prstGeom>
          <a:solidFill>
            <a:srgbClr val="1B2A4A"/>
          </a:solidFill>
          <a:ln/>
        </p:spPr>
      </p:sp>
      <p:sp>
        <p:nvSpPr>
          <p:cNvPr id="12" name="Shape 9"/>
          <p:cNvSpPr/>
          <p:nvPr/>
        </p:nvSpPr>
        <p:spPr>
          <a:xfrm>
            <a:off x="6355080" y="1810512"/>
            <a:ext cx="457200" cy="457200"/>
          </a:xfrm>
          <a:prstGeom prst="ellipse">
            <a:avLst/>
          </a:prstGeom>
          <a:solidFill>
            <a:srgbClr val="E8A33D"/>
          </a:solidFill>
          <a:ln/>
        </p:spPr>
      </p:sp>
      <p:sp>
        <p:nvSpPr>
          <p:cNvPr id="13" name="Text 10"/>
          <p:cNvSpPr txBox="1"/>
          <p:nvPr/>
        </p:nvSpPr>
        <p:spPr>
          <a:xfrm>
            <a:off x="6355080" y="1810512"/>
            <a:ext cx="457200" cy="45720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pitchFamily="34" charset="0"/>
                <a:ea typeface="Cambria" pitchFamily="34" charset="-122"/>
                <a:cs typeface="Cambria" pitchFamily="34" charset="-120"/>
              </a:rPr>
              <a:t>P4</a:t>
            </a:r>
            <a:endParaRPr lang="en-US" sz="1400" dirty="0"/>
          </a:p>
        </p:txBody>
      </p:sp>
      <p:sp>
        <p:nvSpPr>
          <p:cNvPr id="14" name="Text 11"/>
          <p:cNvSpPr txBox="1"/>
          <p:nvPr/>
        </p:nvSpPr>
        <p:spPr>
          <a:xfrm>
            <a:off x="6949440" y="1810512"/>
            <a:ext cx="448056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Attendance</a:t>
            </a:r>
            <a:endParaRPr lang="en-US" sz="1500" dirty="0"/>
          </a:p>
        </p:txBody>
      </p:sp>
      <p:pic>
        <p:nvPicPr>
          <p:cNvPr id="15" name="Image 1" descr="imgs/cell44_1.png">    </p:cNvPr>
          <p:cNvPicPr>
            <a:picLocks noChangeAspect="1"/>
          </p:cNvPicPr>
          <p:nvPr/>
        </p:nvPicPr>
        <p:blipFill>
          <a:blip r:embed="rId2"/>
          <a:stretch>
            <a:fillRect/>
          </a:stretch>
        </p:blipFill>
        <p:spPr>
          <a:xfrm>
            <a:off x="6400800" y="2514600"/>
            <a:ext cx="4937760" cy="1472184"/>
          </a:xfrm>
          <a:prstGeom prst="rect">
            <a:avLst/>
          </a:prstGeom>
          <a:effectLst>
            <a:outerShdw sx="100000" sy="100000" kx="0" ky="0" algn="bl" rotWithShape="0" blurRad="127000" dist="38100" dir="5400000">
              <a:srgbClr val="1B2A4A">
                <a:alpha val="35000"/>
              </a:srgbClr>
            </a:outerShdw>
          </a:effectLst>
        </p:spPr>
      </p:pic>
      <p:sp>
        <p:nvSpPr>
          <p:cNvPr id="16" name="Text 12"/>
          <p:cNvSpPr txBox="1"/>
          <p:nvPr/>
        </p:nvSpPr>
        <p:spPr>
          <a:xfrm>
            <a:off x="6400800" y="4160520"/>
            <a:ext cx="4937760" cy="1737360"/>
          </a:xfrm>
          <a:prstGeom prst="rect">
            <a:avLst/>
          </a:prstGeom>
          <a:noFill/>
          <a:ln/>
        </p:spPr>
        <p:txBody>
          <a:bodyPr wrap="square" lIns="0" tIns="0" rIns="0" bIns="0" rtlCol="0" anchor="ctr"/>
          <a:lstStyle/>
          <a:p>
            <a:pPr indent="0" marL="0">
              <a:lnSpc>
                <a:spcPct val="130000"/>
              </a:lnSpc>
              <a:buNone/>
            </a:pPr>
            <a:r>
              <a:rPr lang="en-US" sz="1200" dirty="0">
                <a:solidFill>
                  <a:srgbClr val="EAF1F8"/>
                </a:solidFill>
                <a:latin typeface="Calibri" pitchFamily="34" charset="0"/>
                <a:ea typeface="Calibri" pitchFamily="34" charset="-122"/>
                <a:cs typeface="Calibri" pitchFamily="34" charset="-120"/>
              </a:rPr>
              <a:t>Relación positiva moderada-fuerte: Pearson r = 0.622.</a:t>
            </a:r>
            <a:endParaRPr lang="en-US" sz="1200" dirty="0"/>
          </a:p>
          <a:p>
            <a:pPr indent="0" marL="0">
              <a:lnSpc>
                <a:spcPct val="130000"/>
              </a:lnSpc>
              <a:buNone/>
            </a:pPr>
            <a:r>
              <a:rPr lang="en-US" sz="1200" dirty="0">
                <a:solidFill>
                  <a:srgbClr val="EAF1F8"/>
                </a:solidFill>
                <a:latin typeface="Calibri" pitchFamily="34" charset="0"/>
                <a:ea typeface="Calibri" pitchFamily="34" charset="-122"/>
                <a:cs typeface="Calibri" pitchFamily="34" charset="-120"/>
              </a:rPr>
              <a:t>Asistencia Alta: 4.85 pts   ·   Media: 4.21   ·   Baja: 3.47</a:t>
            </a:r>
            <a:endParaRPr lang="en-US" sz="1200" dirty="0"/>
          </a:p>
          <a:p>
            <a:pPr indent="0" marL="0">
              <a:lnSpc>
                <a:spcPct val="130000"/>
              </a:lnSpc>
              <a:buNone/>
            </a:pPr>
            <a:r>
              <a:rPr lang="en-US" sz="1200" dirty="0">
                <a:solidFill>
                  <a:srgbClr val="EAF1F8"/>
                </a:solidFill>
                <a:latin typeface="Calibri" pitchFamily="34" charset="0"/>
                <a:ea typeface="Calibri" pitchFamily="34" charset="-122"/>
                <a:cs typeface="Calibri" pitchFamily="34" charset="-120"/>
              </a:rPr>
              <a:t>Diferencia Alta vs. Baja: +1.38 puntos.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02 · ANÁLISIS EXPLORATORIO</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Tres conclusiones del EDA</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12 / 15</a:t>
            </a:r>
            <a:endParaRPr lang="en-US" sz="900" dirty="0"/>
          </a:p>
        </p:txBody>
      </p:sp>
      <p:sp>
        <p:nvSpPr>
          <p:cNvPr id="5" name="Shape 3"/>
          <p:cNvSpPr/>
          <p:nvPr/>
        </p:nvSpPr>
        <p:spPr>
          <a:xfrm>
            <a:off x="548640" y="1691640"/>
            <a:ext cx="10607040" cy="1417320"/>
          </a:xfrm>
          <a:prstGeom prst="roundRect">
            <a:avLst>
              <a:gd name="adj" fmla="val 6452"/>
            </a:avLst>
          </a:prstGeom>
          <a:solidFill>
            <a:srgbClr val="EAF1F8"/>
          </a:solidFill>
          <a:ln w="12700">
            <a:solidFill>
              <a:srgbClr val="EAF1F8"/>
            </a:solidFill>
            <a:prstDash val="solid"/>
          </a:ln>
        </p:spPr>
      </p:sp>
      <p:sp>
        <p:nvSpPr>
          <p:cNvPr id="6" name="Shape 4"/>
          <p:cNvSpPr/>
          <p:nvPr/>
        </p:nvSpPr>
        <p:spPr>
          <a:xfrm>
            <a:off x="822960" y="1947672"/>
            <a:ext cx="914400" cy="914400"/>
          </a:xfrm>
          <a:prstGeom prst="ellipse">
            <a:avLst/>
          </a:prstGeom>
          <a:solidFill>
            <a:srgbClr val="1B2A4A"/>
          </a:solidFill>
          <a:ln/>
        </p:spPr>
      </p:sp>
      <p:sp>
        <p:nvSpPr>
          <p:cNvPr id="7" name="Text 5"/>
          <p:cNvSpPr txBox="1"/>
          <p:nvPr/>
        </p:nvSpPr>
        <p:spPr>
          <a:xfrm>
            <a:off x="822960" y="1947672"/>
            <a:ext cx="914400" cy="914400"/>
          </a:xfrm>
          <a:prstGeom prst="rect">
            <a:avLst/>
          </a:prstGeom>
          <a:noFill/>
          <a:ln/>
        </p:spPr>
        <p:txBody>
          <a:bodyPr wrap="square" lIns="0" tIns="0" rIns="0" bIns="0" rtlCol="0" anchor="ctr"/>
          <a:lstStyle/>
          <a:p>
            <a:pPr algn="ctr" indent="0" marL="0">
              <a:buNone/>
            </a:pPr>
            <a:r>
              <a:rPr lang="en-US" sz="3000" b="1" dirty="0">
                <a:solidFill>
                  <a:srgbClr val="E8A33D"/>
                </a:solidFill>
                <a:latin typeface="Cambria" pitchFamily="34" charset="0"/>
                <a:ea typeface="Cambria" pitchFamily="34" charset="-122"/>
                <a:cs typeface="Cambria" pitchFamily="34" charset="-120"/>
              </a:rPr>
              <a:t>1</a:t>
            </a:r>
            <a:endParaRPr lang="en-US" sz="3000" dirty="0"/>
          </a:p>
        </p:txBody>
      </p:sp>
      <p:sp>
        <p:nvSpPr>
          <p:cNvPr id="8" name="Text 6"/>
          <p:cNvSpPr txBox="1"/>
          <p:nvPr/>
        </p:nvSpPr>
        <p:spPr>
          <a:xfrm>
            <a:off x="1965960" y="1856232"/>
            <a:ext cx="8869680" cy="45720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El esfuerzo académico explica el rendimiento</a:t>
            </a:r>
            <a:endParaRPr lang="en-US" sz="1600" dirty="0"/>
          </a:p>
        </p:txBody>
      </p:sp>
      <p:sp>
        <p:nvSpPr>
          <p:cNvPr id="9" name="Text 7"/>
          <p:cNvSpPr txBox="1"/>
          <p:nvPr/>
        </p:nvSpPr>
        <p:spPr>
          <a:xfrm>
            <a:off x="1965960" y="2313432"/>
            <a:ext cx="8869680" cy="685800"/>
          </a:xfrm>
          <a:prstGeom prst="rect">
            <a:avLst/>
          </a:prstGeom>
          <a:noFill/>
          <a:ln/>
        </p:spPr>
        <p:txBody>
          <a:bodyPr wrap="square" lIns="0" tIns="0" rIns="0" bIns="0" rtlCol="0" anchor="ctr"/>
          <a:lstStyle/>
          <a:p>
            <a:pPr indent="0" marL="0">
              <a:lnSpc>
                <a:spcPct val="120000"/>
              </a:lnSpc>
              <a:buNone/>
            </a:pPr>
            <a:r>
              <a:rPr lang="en-US" sz="1250" dirty="0">
                <a:solidFill>
                  <a:srgbClr val="5B6B82"/>
                </a:solidFill>
                <a:latin typeface="Calibri" pitchFamily="34" charset="0"/>
                <a:ea typeface="Calibri" pitchFamily="34" charset="-122"/>
                <a:cs typeface="Calibri" pitchFamily="34" charset="-120"/>
              </a:rPr>
              <a:t>AssignmentsCompleted, PreviousGPA y Attendance son los predictores más fuertes (r ≈ 0.62–0.67); StudyHours aporta de forma moderada (≈ 0.49).</a:t>
            </a:r>
            <a:endParaRPr lang="en-US" sz="1250" dirty="0"/>
          </a:p>
        </p:txBody>
      </p:sp>
      <p:sp>
        <p:nvSpPr>
          <p:cNvPr id="10" name="Shape 8"/>
          <p:cNvSpPr/>
          <p:nvPr/>
        </p:nvSpPr>
        <p:spPr>
          <a:xfrm>
            <a:off x="548640" y="3291840"/>
            <a:ext cx="10607040" cy="1417320"/>
          </a:xfrm>
          <a:prstGeom prst="roundRect">
            <a:avLst>
              <a:gd name="adj" fmla="val 6452"/>
            </a:avLst>
          </a:prstGeom>
          <a:solidFill>
            <a:srgbClr val="FFFFFF"/>
          </a:solidFill>
          <a:ln w="12700">
            <a:solidFill>
              <a:srgbClr val="EAF1F8"/>
            </a:solidFill>
            <a:prstDash val="solid"/>
          </a:ln>
        </p:spPr>
      </p:sp>
      <p:sp>
        <p:nvSpPr>
          <p:cNvPr id="11" name="Shape 9"/>
          <p:cNvSpPr/>
          <p:nvPr/>
        </p:nvSpPr>
        <p:spPr>
          <a:xfrm>
            <a:off x="822960" y="3547872"/>
            <a:ext cx="914400" cy="914400"/>
          </a:xfrm>
          <a:prstGeom prst="ellipse">
            <a:avLst/>
          </a:prstGeom>
          <a:solidFill>
            <a:srgbClr val="1B2A4A"/>
          </a:solidFill>
          <a:ln/>
        </p:spPr>
      </p:sp>
      <p:sp>
        <p:nvSpPr>
          <p:cNvPr id="12" name="Text 10"/>
          <p:cNvSpPr txBox="1"/>
          <p:nvPr/>
        </p:nvSpPr>
        <p:spPr>
          <a:xfrm>
            <a:off x="822960" y="3547872"/>
            <a:ext cx="914400" cy="914400"/>
          </a:xfrm>
          <a:prstGeom prst="rect">
            <a:avLst/>
          </a:prstGeom>
          <a:noFill/>
          <a:ln/>
        </p:spPr>
        <p:txBody>
          <a:bodyPr wrap="square" lIns="0" tIns="0" rIns="0" bIns="0" rtlCol="0" anchor="ctr"/>
          <a:lstStyle/>
          <a:p>
            <a:pPr algn="ctr" indent="0" marL="0">
              <a:buNone/>
            </a:pPr>
            <a:r>
              <a:rPr lang="en-US" sz="3000" b="1" dirty="0">
                <a:solidFill>
                  <a:srgbClr val="E8A33D"/>
                </a:solidFill>
                <a:latin typeface="Cambria" pitchFamily="34" charset="0"/>
                <a:ea typeface="Cambria" pitchFamily="34" charset="-122"/>
                <a:cs typeface="Cambria" pitchFamily="34" charset="-120"/>
              </a:rPr>
              <a:t>2</a:t>
            </a:r>
            <a:endParaRPr lang="en-US" sz="3000" dirty="0"/>
          </a:p>
        </p:txBody>
      </p:sp>
      <p:sp>
        <p:nvSpPr>
          <p:cNvPr id="13" name="Text 11"/>
          <p:cNvSpPr txBox="1"/>
          <p:nvPr/>
        </p:nvSpPr>
        <p:spPr>
          <a:xfrm>
            <a:off x="1965960" y="3456432"/>
            <a:ext cx="8869680" cy="45720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Los factores demográficos y de estilo de vida casi no influyen</a:t>
            </a:r>
            <a:endParaRPr lang="en-US" sz="1600" dirty="0"/>
          </a:p>
        </p:txBody>
      </p:sp>
      <p:sp>
        <p:nvSpPr>
          <p:cNvPr id="14" name="Text 12"/>
          <p:cNvSpPr txBox="1"/>
          <p:nvPr/>
        </p:nvSpPr>
        <p:spPr>
          <a:xfrm>
            <a:off x="1965960" y="3913632"/>
            <a:ext cx="8869680" cy="685800"/>
          </a:xfrm>
          <a:prstGeom prst="rect">
            <a:avLst/>
          </a:prstGeom>
          <a:noFill/>
          <a:ln/>
        </p:spPr>
        <p:txBody>
          <a:bodyPr wrap="square" lIns="0" tIns="0" rIns="0" bIns="0" rtlCol="0" anchor="ctr"/>
          <a:lstStyle/>
          <a:p>
            <a:pPr indent="0" marL="0">
              <a:lnSpc>
                <a:spcPct val="120000"/>
              </a:lnSpc>
              <a:buNone/>
            </a:pPr>
            <a:r>
              <a:rPr lang="en-US" sz="1250" dirty="0">
                <a:solidFill>
                  <a:srgbClr val="5B6B82"/>
                </a:solidFill>
                <a:latin typeface="Calibri" pitchFamily="34" charset="0"/>
                <a:ea typeface="Calibri" pitchFamily="34" charset="-122"/>
                <a:cs typeface="Calibri" pitchFamily="34" charset="-120"/>
              </a:rPr>
              <a:t>Age, SleepHours e InternetHours muestran una correlación cercana a 0 con FinalGrade.</a:t>
            </a:r>
            <a:endParaRPr lang="en-US" sz="1250" dirty="0"/>
          </a:p>
        </p:txBody>
      </p:sp>
      <p:sp>
        <p:nvSpPr>
          <p:cNvPr id="15" name="Shape 13"/>
          <p:cNvSpPr/>
          <p:nvPr/>
        </p:nvSpPr>
        <p:spPr>
          <a:xfrm>
            <a:off x="548640" y="4892040"/>
            <a:ext cx="10607040" cy="1417320"/>
          </a:xfrm>
          <a:prstGeom prst="roundRect">
            <a:avLst>
              <a:gd name="adj" fmla="val 6452"/>
            </a:avLst>
          </a:prstGeom>
          <a:solidFill>
            <a:srgbClr val="EAF1F8"/>
          </a:solidFill>
          <a:ln w="12700">
            <a:solidFill>
              <a:srgbClr val="EAF1F8"/>
            </a:solidFill>
            <a:prstDash val="solid"/>
          </a:ln>
        </p:spPr>
      </p:sp>
      <p:sp>
        <p:nvSpPr>
          <p:cNvPr id="16" name="Shape 14"/>
          <p:cNvSpPr/>
          <p:nvPr/>
        </p:nvSpPr>
        <p:spPr>
          <a:xfrm>
            <a:off x="822960" y="5148072"/>
            <a:ext cx="914400" cy="914400"/>
          </a:xfrm>
          <a:prstGeom prst="ellipse">
            <a:avLst/>
          </a:prstGeom>
          <a:solidFill>
            <a:srgbClr val="1B2A4A"/>
          </a:solidFill>
          <a:ln/>
        </p:spPr>
      </p:sp>
      <p:sp>
        <p:nvSpPr>
          <p:cNvPr id="17" name="Text 15"/>
          <p:cNvSpPr txBox="1"/>
          <p:nvPr/>
        </p:nvSpPr>
        <p:spPr>
          <a:xfrm>
            <a:off x="822960" y="5148072"/>
            <a:ext cx="914400" cy="914400"/>
          </a:xfrm>
          <a:prstGeom prst="rect">
            <a:avLst/>
          </a:prstGeom>
          <a:noFill/>
          <a:ln/>
        </p:spPr>
        <p:txBody>
          <a:bodyPr wrap="square" lIns="0" tIns="0" rIns="0" bIns="0" rtlCol="0" anchor="ctr"/>
          <a:lstStyle/>
          <a:p>
            <a:pPr algn="ctr" indent="0" marL="0">
              <a:buNone/>
            </a:pPr>
            <a:r>
              <a:rPr lang="en-US" sz="3000" b="1" dirty="0">
                <a:solidFill>
                  <a:srgbClr val="E8A33D"/>
                </a:solidFill>
                <a:latin typeface="Cambria" pitchFamily="34" charset="0"/>
                <a:ea typeface="Cambria" pitchFamily="34" charset="-122"/>
                <a:cs typeface="Cambria" pitchFamily="34" charset="-120"/>
              </a:rPr>
              <a:t>3</a:t>
            </a:r>
            <a:endParaRPr lang="en-US" sz="3000" dirty="0"/>
          </a:p>
        </p:txBody>
      </p:sp>
      <p:sp>
        <p:nvSpPr>
          <p:cNvPr id="18" name="Text 16"/>
          <p:cNvSpPr txBox="1"/>
          <p:nvPr/>
        </p:nvSpPr>
        <p:spPr>
          <a:xfrm>
            <a:off x="1965960" y="5056632"/>
            <a:ext cx="8869680" cy="45720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Beca y programa importan, pero poco</a:t>
            </a:r>
            <a:endParaRPr lang="en-US" sz="1600" dirty="0"/>
          </a:p>
        </p:txBody>
      </p:sp>
      <p:sp>
        <p:nvSpPr>
          <p:cNvPr id="19" name="Text 17"/>
          <p:cNvSpPr txBox="1"/>
          <p:nvPr/>
        </p:nvSpPr>
        <p:spPr>
          <a:xfrm>
            <a:off x="1965960" y="5513832"/>
            <a:ext cx="8869680" cy="685800"/>
          </a:xfrm>
          <a:prstGeom prst="rect">
            <a:avLst/>
          </a:prstGeom>
          <a:noFill/>
          <a:ln/>
        </p:spPr>
        <p:txBody>
          <a:bodyPr wrap="square" lIns="0" tIns="0" rIns="0" bIns="0" rtlCol="0" anchor="ctr"/>
          <a:lstStyle/>
          <a:p>
            <a:pPr indent="0" marL="0">
              <a:lnSpc>
                <a:spcPct val="120000"/>
              </a:lnSpc>
              <a:buNone/>
            </a:pPr>
            <a:r>
              <a:rPr lang="en-US" sz="1250" dirty="0">
                <a:solidFill>
                  <a:srgbClr val="5B6B82"/>
                </a:solidFill>
                <a:latin typeface="Calibri" pitchFamily="34" charset="0"/>
                <a:ea typeface="Calibri" pitchFamily="34" charset="-122"/>
                <a:cs typeface="Calibri" pitchFamily="34" charset="-120"/>
              </a:rPr>
              <a:t>Su efecto (menos de 0.3 puntos) es claramente menor que el del esfuerzo académico.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03–04 · TRATAMIENTO</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Estrategias de tratamiento y Pipeline</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13 / 15</a:t>
            </a:r>
            <a:endParaRPr lang="en-US" sz="900" dirty="0"/>
          </a:p>
        </p:txBody>
      </p:sp>
      <p:sp>
        <p:nvSpPr>
          <p:cNvPr id="5" name="Shape 3"/>
          <p:cNvSpPr/>
          <p:nvPr/>
        </p:nvSpPr>
        <p:spPr>
          <a:xfrm>
            <a:off x="548640" y="1600200"/>
            <a:ext cx="4937760" cy="4709160"/>
          </a:xfrm>
          <a:prstGeom prst="roundRect">
            <a:avLst>
              <a:gd name="adj" fmla="val 1942"/>
            </a:avLst>
          </a:prstGeom>
          <a:solidFill>
            <a:srgbClr val="EAF1F8"/>
          </a:solidFill>
          <a:ln/>
        </p:spPr>
      </p:sp>
      <p:sp>
        <p:nvSpPr>
          <p:cNvPr id="6" name="Text 4"/>
          <p:cNvSpPr txBox="1"/>
          <p:nvPr/>
        </p:nvSpPr>
        <p:spPr>
          <a:xfrm>
            <a:off x="777240" y="1755648"/>
            <a:ext cx="4480560" cy="32004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Decisiones, problema por problema</a:t>
            </a:r>
            <a:endParaRPr lang="en-US" sz="1400" dirty="0"/>
          </a:p>
        </p:txBody>
      </p:sp>
      <p:sp>
        <p:nvSpPr>
          <p:cNvPr id="7" name="Shape 5"/>
          <p:cNvSpPr/>
          <p:nvPr/>
        </p:nvSpPr>
        <p:spPr>
          <a:xfrm>
            <a:off x="777240" y="2240280"/>
            <a:ext cx="128016" cy="128016"/>
          </a:xfrm>
          <a:prstGeom prst="ellipse">
            <a:avLst/>
          </a:prstGeom>
          <a:solidFill>
            <a:srgbClr val="E8A33D"/>
          </a:solidFill>
          <a:ln/>
        </p:spPr>
      </p:sp>
      <p:sp>
        <p:nvSpPr>
          <p:cNvPr id="8" name="Text 6"/>
          <p:cNvSpPr txBox="1"/>
          <p:nvPr/>
        </p:nvSpPr>
        <p:spPr>
          <a:xfrm>
            <a:off x="1024128" y="2121408"/>
            <a:ext cx="1691640" cy="365760"/>
          </a:xfrm>
          <a:prstGeom prst="rect">
            <a:avLst/>
          </a:prstGeom>
          <a:noFill/>
          <a:ln/>
        </p:spPr>
        <p:txBody>
          <a:bodyPr wrap="square" lIns="0" tIns="0" rIns="0" bIns="0" rtlCol="0" anchor="ctr"/>
          <a:lstStyle/>
          <a:p>
            <a:pPr indent="0" marL="0">
              <a:buNone/>
            </a:pPr>
            <a:r>
              <a:rPr lang="en-US" sz="1200" b="1" dirty="0">
                <a:solidFill>
                  <a:srgbClr val="3E7CB1"/>
                </a:solidFill>
                <a:latin typeface="Calibri" pitchFamily="34" charset="0"/>
                <a:ea typeface="Calibri" pitchFamily="34" charset="-122"/>
                <a:cs typeface="Calibri" pitchFamily="34" charset="-120"/>
              </a:rPr>
              <a:t>Duplicados:</a:t>
            </a:r>
            <a:endParaRPr lang="en-US" sz="1200" dirty="0"/>
          </a:p>
        </p:txBody>
      </p:sp>
      <p:sp>
        <p:nvSpPr>
          <p:cNvPr id="9" name="Text 7"/>
          <p:cNvSpPr txBox="1"/>
          <p:nvPr/>
        </p:nvSpPr>
        <p:spPr>
          <a:xfrm>
            <a:off x="2697480" y="2121408"/>
            <a:ext cx="2651760" cy="502920"/>
          </a:xfrm>
          <a:prstGeom prst="rect">
            <a:avLst/>
          </a:prstGeom>
          <a:noFill/>
          <a:ln/>
        </p:spPr>
        <p:txBody>
          <a:bodyPr wrap="square" lIns="0" tIns="0" rIns="0" bIns="0" rtlCol="0" anchor="ctr"/>
          <a:lstStyle/>
          <a:p>
            <a:pPr indent="0" marL="0">
              <a:lnSpc>
                <a:spcPct val="110000"/>
              </a:lnSpc>
              <a:buNone/>
            </a:pPr>
            <a:r>
              <a:rPr lang="en-US" sz="1100" dirty="0">
                <a:solidFill>
                  <a:srgbClr val="1B2A4A"/>
                </a:solidFill>
                <a:latin typeface="Calibri" pitchFamily="34" charset="0"/>
                <a:ea typeface="Calibri" pitchFamily="34" charset="-122"/>
                <a:cs typeface="Calibri" pitchFamily="34" charset="-120"/>
              </a:rPr>
              <a:t>Eliminar (100 filas)</a:t>
            </a:r>
            <a:endParaRPr lang="en-US" sz="1100" dirty="0"/>
          </a:p>
        </p:txBody>
      </p:sp>
      <p:sp>
        <p:nvSpPr>
          <p:cNvPr id="10" name="Shape 8"/>
          <p:cNvSpPr/>
          <p:nvPr/>
        </p:nvSpPr>
        <p:spPr>
          <a:xfrm>
            <a:off x="777240" y="3026664"/>
            <a:ext cx="128016" cy="128016"/>
          </a:xfrm>
          <a:prstGeom prst="ellipse">
            <a:avLst/>
          </a:prstGeom>
          <a:solidFill>
            <a:srgbClr val="E8A33D"/>
          </a:solidFill>
          <a:ln/>
        </p:spPr>
      </p:sp>
      <p:sp>
        <p:nvSpPr>
          <p:cNvPr id="11" name="Text 9"/>
          <p:cNvSpPr txBox="1"/>
          <p:nvPr/>
        </p:nvSpPr>
        <p:spPr>
          <a:xfrm>
            <a:off x="1024128" y="2907792"/>
            <a:ext cx="1691640" cy="365760"/>
          </a:xfrm>
          <a:prstGeom prst="rect">
            <a:avLst/>
          </a:prstGeom>
          <a:noFill/>
          <a:ln/>
        </p:spPr>
        <p:txBody>
          <a:bodyPr wrap="square" lIns="0" tIns="0" rIns="0" bIns="0" rtlCol="0" anchor="ctr"/>
          <a:lstStyle/>
          <a:p>
            <a:pPr indent="0" marL="0">
              <a:buNone/>
            </a:pPr>
            <a:r>
              <a:rPr lang="en-US" sz="1200" b="1" dirty="0">
                <a:solidFill>
                  <a:srgbClr val="3E7CB1"/>
                </a:solidFill>
                <a:latin typeface="Calibri" pitchFamily="34" charset="0"/>
                <a:ea typeface="Calibri" pitchFamily="34" charset="-122"/>
                <a:cs typeface="Calibri" pitchFamily="34" charset="-120"/>
              </a:rPr>
              <a:t>Target inválido:</a:t>
            </a:r>
            <a:endParaRPr lang="en-US" sz="1200" dirty="0"/>
          </a:p>
        </p:txBody>
      </p:sp>
      <p:sp>
        <p:nvSpPr>
          <p:cNvPr id="12" name="Text 10"/>
          <p:cNvSpPr txBox="1"/>
          <p:nvPr/>
        </p:nvSpPr>
        <p:spPr>
          <a:xfrm>
            <a:off x="2697480" y="2907792"/>
            <a:ext cx="2651760" cy="502920"/>
          </a:xfrm>
          <a:prstGeom prst="rect">
            <a:avLst/>
          </a:prstGeom>
          <a:noFill/>
          <a:ln/>
        </p:spPr>
        <p:txBody>
          <a:bodyPr wrap="square" lIns="0" tIns="0" rIns="0" bIns="0" rtlCol="0" anchor="ctr"/>
          <a:lstStyle/>
          <a:p>
            <a:pPr indent="0" marL="0">
              <a:lnSpc>
                <a:spcPct val="110000"/>
              </a:lnSpc>
              <a:buNone/>
            </a:pPr>
            <a:r>
              <a:rPr lang="en-US" sz="1100" dirty="0">
                <a:solidFill>
                  <a:srgbClr val="1B2A4A"/>
                </a:solidFill>
                <a:latin typeface="Calibri" pitchFamily="34" charset="0"/>
                <a:ea typeface="Calibri" pitchFamily="34" charset="-122"/>
                <a:cs typeface="Calibri" pitchFamily="34" charset="-120"/>
              </a:rPr>
              <a:t>Eliminar fila (4) — nunca se imputa el objetivo</a:t>
            </a:r>
            <a:endParaRPr lang="en-US" sz="1100" dirty="0"/>
          </a:p>
        </p:txBody>
      </p:sp>
      <p:sp>
        <p:nvSpPr>
          <p:cNvPr id="13" name="Shape 11"/>
          <p:cNvSpPr/>
          <p:nvPr/>
        </p:nvSpPr>
        <p:spPr>
          <a:xfrm>
            <a:off x="777240" y="3813048"/>
            <a:ext cx="128016" cy="128016"/>
          </a:xfrm>
          <a:prstGeom prst="ellipse">
            <a:avLst/>
          </a:prstGeom>
          <a:solidFill>
            <a:srgbClr val="E8A33D"/>
          </a:solidFill>
          <a:ln/>
        </p:spPr>
      </p:sp>
      <p:sp>
        <p:nvSpPr>
          <p:cNvPr id="14" name="Text 12"/>
          <p:cNvSpPr txBox="1"/>
          <p:nvPr/>
        </p:nvSpPr>
        <p:spPr>
          <a:xfrm>
            <a:off x="1024128" y="3694176"/>
            <a:ext cx="1691640" cy="365760"/>
          </a:xfrm>
          <a:prstGeom prst="rect">
            <a:avLst/>
          </a:prstGeom>
          <a:noFill/>
          <a:ln/>
        </p:spPr>
        <p:txBody>
          <a:bodyPr wrap="square" lIns="0" tIns="0" rIns="0" bIns="0" rtlCol="0" anchor="ctr"/>
          <a:lstStyle/>
          <a:p>
            <a:pPr indent="0" marL="0">
              <a:buNone/>
            </a:pPr>
            <a:r>
              <a:rPr lang="en-US" sz="1200" b="1" dirty="0">
                <a:solidFill>
                  <a:srgbClr val="3E7CB1"/>
                </a:solidFill>
                <a:latin typeface="Calibri" pitchFamily="34" charset="0"/>
                <a:ea typeface="Calibri" pitchFamily="34" charset="-122"/>
                <a:cs typeface="Calibri" pitchFamily="34" charset="-120"/>
              </a:rPr>
              <a:t>Inconsistencias:</a:t>
            </a:r>
            <a:endParaRPr lang="en-US" sz="1200" dirty="0"/>
          </a:p>
        </p:txBody>
      </p:sp>
      <p:sp>
        <p:nvSpPr>
          <p:cNvPr id="15" name="Text 13"/>
          <p:cNvSpPr txBox="1"/>
          <p:nvPr/>
        </p:nvSpPr>
        <p:spPr>
          <a:xfrm>
            <a:off x="2697480" y="3694176"/>
            <a:ext cx="2651760" cy="502920"/>
          </a:xfrm>
          <a:prstGeom prst="rect">
            <a:avLst/>
          </a:prstGeom>
          <a:noFill/>
          <a:ln/>
        </p:spPr>
        <p:txBody>
          <a:bodyPr wrap="square" lIns="0" tIns="0" rIns="0" bIns="0" rtlCol="0" anchor="ctr"/>
          <a:lstStyle/>
          <a:p>
            <a:pPr indent="0" marL="0">
              <a:lnSpc>
                <a:spcPct val="110000"/>
              </a:lnSpc>
              <a:buNone/>
            </a:pPr>
            <a:r>
              <a:rPr lang="en-US" sz="1100" dirty="0">
                <a:solidFill>
                  <a:srgbClr val="1B2A4A"/>
                </a:solidFill>
                <a:latin typeface="Calibri" pitchFamily="34" charset="0"/>
                <a:ea typeface="Calibri" pitchFamily="34" charset="-122"/>
                <a:cs typeface="Calibri" pitchFamily="34" charset="-120"/>
              </a:rPr>
              <a:t>Normalizar texto / valor inválido → NaN</a:t>
            </a:r>
            <a:endParaRPr lang="en-US" sz="1100" dirty="0"/>
          </a:p>
        </p:txBody>
      </p:sp>
      <p:sp>
        <p:nvSpPr>
          <p:cNvPr id="16" name="Shape 14"/>
          <p:cNvSpPr/>
          <p:nvPr/>
        </p:nvSpPr>
        <p:spPr>
          <a:xfrm>
            <a:off x="777240" y="4599432"/>
            <a:ext cx="128016" cy="128016"/>
          </a:xfrm>
          <a:prstGeom prst="ellipse">
            <a:avLst/>
          </a:prstGeom>
          <a:solidFill>
            <a:srgbClr val="E8A33D"/>
          </a:solidFill>
          <a:ln/>
        </p:spPr>
      </p:sp>
      <p:sp>
        <p:nvSpPr>
          <p:cNvPr id="17" name="Text 15"/>
          <p:cNvSpPr txBox="1"/>
          <p:nvPr/>
        </p:nvSpPr>
        <p:spPr>
          <a:xfrm>
            <a:off x="1024128" y="4480560"/>
            <a:ext cx="1691640" cy="365760"/>
          </a:xfrm>
          <a:prstGeom prst="rect">
            <a:avLst/>
          </a:prstGeom>
          <a:noFill/>
          <a:ln/>
        </p:spPr>
        <p:txBody>
          <a:bodyPr wrap="square" lIns="0" tIns="0" rIns="0" bIns="0" rtlCol="0" anchor="ctr"/>
          <a:lstStyle/>
          <a:p>
            <a:pPr indent="0" marL="0">
              <a:buNone/>
            </a:pPr>
            <a:r>
              <a:rPr lang="en-US" sz="1200" b="1" dirty="0">
                <a:solidFill>
                  <a:srgbClr val="3E7CB1"/>
                </a:solidFill>
                <a:latin typeface="Calibri" pitchFamily="34" charset="0"/>
                <a:ea typeface="Calibri" pitchFamily="34" charset="-122"/>
                <a:cs typeface="Calibri" pitchFamily="34" charset="-120"/>
              </a:rPr>
              <a:t>Faltantes:</a:t>
            </a:r>
            <a:endParaRPr lang="en-US" sz="1200" dirty="0"/>
          </a:p>
        </p:txBody>
      </p:sp>
      <p:sp>
        <p:nvSpPr>
          <p:cNvPr id="18" name="Text 16"/>
          <p:cNvSpPr txBox="1"/>
          <p:nvPr/>
        </p:nvSpPr>
        <p:spPr>
          <a:xfrm>
            <a:off x="2697480" y="4480560"/>
            <a:ext cx="2651760" cy="502920"/>
          </a:xfrm>
          <a:prstGeom prst="rect">
            <a:avLst/>
          </a:prstGeom>
          <a:noFill/>
          <a:ln/>
        </p:spPr>
        <p:txBody>
          <a:bodyPr wrap="square" lIns="0" tIns="0" rIns="0" bIns="0" rtlCol="0" anchor="ctr"/>
          <a:lstStyle/>
          <a:p>
            <a:pPr indent="0" marL="0">
              <a:lnSpc>
                <a:spcPct val="110000"/>
              </a:lnSpc>
              <a:buNone/>
            </a:pPr>
            <a:r>
              <a:rPr lang="en-US" sz="1100" dirty="0">
                <a:solidFill>
                  <a:srgbClr val="1B2A4A"/>
                </a:solidFill>
                <a:latin typeface="Calibri" pitchFamily="34" charset="0"/>
                <a:ea typeface="Calibri" pitchFamily="34" charset="-122"/>
                <a:cs typeface="Calibri" pitchFamily="34" charset="-120"/>
              </a:rPr>
              <a:t>Imputar: mediana (num.) / moda (cat.)</a:t>
            </a:r>
            <a:endParaRPr lang="en-US" sz="1100" dirty="0"/>
          </a:p>
        </p:txBody>
      </p:sp>
      <p:sp>
        <p:nvSpPr>
          <p:cNvPr id="19" name="Shape 17"/>
          <p:cNvSpPr/>
          <p:nvPr/>
        </p:nvSpPr>
        <p:spPr>
          <a:xfrm>
            <a:off x="777240" y="5385816"/>
            <a:ext cx="128016" cy="128016"/>
          </a:xfrm>
          <a:prstGeom prst="ellipse">
            <a:avLst/>
          </a:prstGeom>
          <a:solidFill>
            <a:srgbClr val="E8A33D"/>
          </a:solidFill>
          <a:ln/>
        </p:spPr>
      </p:sp>
      <p:sp>
        <p:nvSpPr>
          <p:cNvPr id="20" name="Text 18"/>
          <p:cNvSpPr txBox="1"/>
          <p:nvPr/>
        </p:nvSpPr>
        <p:spPr>
          <a:xfrm>
            <a:off x="1024128" y="5266944"/>
            <a:ext cx="1691640" cy="365760"/>
          </a:xfrm>
          <a:prstGeom prst="rect">
            <a:avLst/>
          </a:prstGeom>
          <a:noFill/>
          <a:ln/>
        </p:spPr>
        <p:txBody>
          <a:bodyPr wrap="square" lIns="0" tIns="0" rIns="0" bIns="0" rtlCol="0" anchor="ctr"/>
          <a:lstStyle/>
          <a:p>
            <a:pPr indent="0" marL="0">
              <a:buNone/>
            </a:pPr>
            <a:r>
              <a:rPr lang="en-US" sz="1200" b="1" dirty="0">
                <a:solidFill>
                  <a:srgbClr val="3E7CB1"/>
                </a:solidFill>
                <a:latin typeface="Calibri" pitchFamily="34" charset="0"/>
                <a:ea typeface="Calibri" pitchFamily="34" charset="-122"/>
                <a:cs typeface="Calibri" pitchFamily="34" charset="-120"/>
              </a:rPr>
              <a:t>Outliers:</a:t>
            </a:r>
            <a:endParaRPr lang="en-US" sz="1200" dirty="0"/>
          </a:p>
        </p:txBody>
      </p:sp>
      <p:sp>
        <p:nvSpPr>
          <p:cNvPr id="21" name="Text 19"/>
          <p:cNvSpPr txBox="1"/>
          <p:nvPr/>
        </p:nvSpPr>
        <p:spPr>
          <a:xfrm>
            <a:off x="2697480" y="5266944"/>
            <a:ext cx="2651760" cy="502920"/>
          </a:xfrm>
          <a:prstGeom prst="rect">
            <a:avLst/>
          </a:prstGeom>
          <a:noFill/>
          <a:ln/>
        </p:spPr>
        <p:txBody>
          <a:bodyPr wrap="square" lIns="0" tIns="0" rIns="0" bIns="0" rtlCol="0" anchor="ctr"/>
          <a:lstStyle/>
          <a:p>
            <a:pPr indent="0" marL="0">
              <a:lnSpc>
                <a:spcPct val="110000"/>
              </a:lnSpc>
              <a:buNone/>
            </a:pPr>
            <a:r>
              <a:rPr lang="en-US" sz="1100" dirty="0">
                <a:solidFill>
                  <a:srgbClr val="1B2A4A"/>
                </a:solidFill>
                <a:latin typeface="Calibri" pitchFamily="34" charset="0"/>
                <a:ea typeface="Calibri" pitchFamily="34" charset="-122"/>
                <a:cs typeface="Calibri" pitchFamily="34" charset="-120"/>
              </a:rPr>
              <a:t>Winsorizing P1–P99 + RobustScaler</a:t>
            </a:r>
            <a:endParaRPr lang="en-US" sz="1100" dirty="0"/>
          </a:p>
        </p:txBody>
      </p:sp>
      <p:sp>
        <p:nvSpPr>
          <p:cNvPr id="22" name="Shape 20"/>
          <p:cNvSpPr/>
          <p:nvPr/>
        </p:nvSpPr>
        <p:spPr>
          <a:xfrm>
            <a:off x="5806440" y="1600200"/>
            <a:ext cx="5806440" cy="4709160"/>
          </a:xfrm>
          <a:prstGeom prst="roundRect">
            <a:avLst>
              <a:gd name="adj" fmla="val 1942"/>
            </a:avLst>
          </a:prstGeom>
          <a:solidFill>
            <a:srgbClr val="1B2A4A"/>
          </a:solidFill>
          <a:ln/>
        </p:spPr>
      </p:sp>
      <p:sp>
        <p:nvSpPr>
          <p:cNvPr id="23" name="Text 21"/>
          <p:cNvSpPr txBox="1"/>
          <p:nvPr/>
        </p:nvSpPr>
        <p:spPr>
          <a:xfrm>
            <a:off x="6080760" y="1783080"/>
            <a:ext cx="5212080" cy="36576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ColumnTransformer</a:t>
            </a:r>
            <a:endParaRPr lang="en-US" sz="1500" dirty="0"/>
          </a:p>
        </p:txBody>
      </p:sp>
      <p:sp>
        <p:nvSpPr>
          <p:cNvPr id="24" name="Shape 22"/>
          <p:cNvSpPr/>
          <p:nvPr/>
        </p:nvSpPr>
        <p:spPr>
          <a:xfrm>
            <a:off x="6080760" y="2286000"/>
            <a:ext cx="5257800" cy="1051560"/>
          </a:xfrm>
          <a:prstGeom prst="roundRect">
            <a:avLst>
              <a:gd name="adj" fmla="val 6957"/>
            </a:avLst>
          </a:prstGeom>
          <a:solidFill>
            <a:srgbClr val="223357"/>
          </a:solidFill>
          <a:ln/>
        </p:spPr>
      </p:sp>
      <p:sp>
        <p:nvSpPr>
          <p:cNvPr id="25" name="Text 23"/>
          <p:cNvSpPr txBox="1"/>
          <p:nvPr/>
        </p:nvSpPr>
        <p:spPr>
          <a:xfrm>
            <a:off x="6263640" y="2377440"/>
            <a:ext cx="484632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Pipeline numérica  (7 columnas)</a:t>
            </a:r>
            <a:endParaRPr lang="en-US" sz="1200" dirty="0"/>
          </a:p>
        </p:txBody>
      </p:sp>
      <p:sp>
        <p:nvSpPr>
          <p:cNvPr id="26" name="Text 24"/>
          <p:cNvSpPr txBox="1"/>
          <p:nvPr/>
        </p:nvSpPr>
        <p:spPr>
          <a:xfrm>
            <a:off x="6263640" y="2724912"/>
            <a:ext cx="4846320" cy="502920"/>
          </a:xfrm>
          <a:prstGeom prst="rect">
            <a:avLst/>
          </a:prstGeom>
          <a:noFill/>
          <a:ln/>
        </p:spPr>
        <p:txBody>
          <a:bodyPr wrap="square" lIns="0" tIns="0" rIns="0" bIns="0" rtlCol="0" anchor="ctr"/>
          <a:lstStyle/>
          <a:p>
            <a:pPr indent="0" marL="0">
              <a:buNone/>
            </a:pPr>
            <a:r>
              <a:rPr lang="en-US" sz="1250" dirty="0">
                <a:solidFill>
                  <a:srgbClr val="B9CBE3"/>
                </a:solidFill>
                <a:latin typeface="Calibri" pitchFamily="34" charset="0"/>
                <a:ea typeface="Calibri" pitchFamily="34" charset="-122"/>
                <a:cs typeface="Calibri" pitchFamily="34" charset="-120"/>
              </a:rPr>
              <a:t>SimpleImputer(mediana)  →  RobustScaler</a:t>
            </a:r>
            <a:endParaRPr lang="en-US" sz="1250" dirty="0"/>
          </a:p>
        </p:txBody>
      </p:sp>
      <p:sp>
        <p:nvSpPr>
          <p:cNvPr id="27" name="Shape 25"/>
          <p:cNvSpPr/>
          <p:nvPr/>
        </p:nvSpPr>
        <p:spPr>
          <a:xfrm>
            <a:off x="6080760" y="3520440"/>
            <a:ext cx="5257800" cy="1051560"/>
          </a:xfrm>
          <a:prstGeom prst="roundRect">
            <a:avLst>
              <a:gd name="adj" fmla="val 6957"/>
            </a:avLst>
          </a:prstGeom>
          <a:solidFill>
            <a:srgbClr val="223357"/>
          </a:solidFill>
          <a:ln/>
        </p:spPr>
      </p:sp>
      <p:sp>
        <p:nvSpPr>
          <p:cNvPr id="28" name="Text 26"/>
          <p:cNvSpPr txBox="1"/>
          <p:nvPr/>
        </p:nvSpPr>
        <p:spPr>
          <a:xfrm>
            <a:off x="6263640" y="3611880"/>
            <a:ext cx="484632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Pipeline categórica  (2 columnas)</a:t>
            </a:r>
            <a:endParaRPr lang="en-US" sz="1200" dirty="0"/>
          </a:p>
        </p:txBody>
      </p:sp>
      <p:sp>
        <p:nvSpPr>
          <p:cNvPr id="29" name="Text 27"/>
          <p:cNvSpPr txBox="1"/>
          <p:nvPr/>
        </p:nvSpPr>
        <p:spPr>
          <a:xfrm>
            <a:off x="6263640" y="3959352"/>
            <a:ext cx="4846320" cy="502920"/>
          </a:xfrm>
          <a:prstGeom prst="rect">
            <a:avLst/>
          </a:prstGeom>
          <a:noFill/>
          <a:ln/>
        </p:spPr>
        <p:txBody>
          <a:bodyPr wrap="square" lIns="0" tIns="0" rIns="0" bIns="0" rtlCol="0" anchor="ctr"/>
          <a:lstStyle/>
          <a:p>
            <a:pPr indent="0" marL="0">
              <a:buNone/>
            </a:pPr>
            <a:r>
              <a:rPr lang="en-US" sz="1250" dirty="0">
                <a:solidFill>
                  <a:srgbClr val="B9CBE3"/>
                </a:solidFill>
                <a:latin typeface="Calibri" pitchFamily="34" charset="0"/>
                <a:ea typeface="Calibri" pitchFamily="34" charset="-122"/>
                <a:cs typeface="Calibri" pitchFamily="34" charset="-120"/>
              </a:rPr>
              <a:t>SimpleImputer(moda)  →  OneHotEncoder</a:t>
            </a:r>
            <a:endParaRPr lang="en-US" sz="1250" dirty="0"/>
          </a:p>
        </p:txBody>
      </p:sp>
      <p:sp>
        <p:nvSpPr>
          <p:cNvPr id="30" name="Text 28"/>
          <p:cNvSpPr txBox="1"/>
          <p:nvPr/>
        </p:nvSpPr>
        <p:spPr>
          <a:xfrm>
            <a:off x="6080760" y="4709160"/>
            <a:ext cx="5257800" cy="365760"/>
          </a:xfrm>
          <a:prstGeom prst="rect">
            <a:avLst/>
          </a:prstGeom>
          <a:noFill/>
          <a:ln/>
        </p:spPr>
        <p:txBody>
          <a:bodyPr wrap="square" lIns="0" tIns="0" rIns="0" bIns="0" rtlCol="0" anchor="ctr"/>
          <a:lstStyle/>
          <a:p>
            <a:pPr indent="0" marL="0">
              <a:buNone/>
            </a:pPr>
            <a:r>
              <a:rPr lang="en-US" sz="1100" i="1" dirty="0">
                <a:solidFill>
                  <a:srgbClr val="9FB6D6"/>
                </a:solidFill>
                <a:latin typeface="Calibri" pitchFamily="34" charset="0"/>
                <a:ea typeface="Calibri" pitchFamily="34" charset="-122"/>
                <a:cs typeface="Calibri" pitchFamily="34" charset="-120"/>
              </a:rPr>
              <a:t>remainder = 'drop'  →  StudentID se descarta de la matriz de modelamiento</a:t>
            </a:r>
            <a:endParaRPr lang="en-US" sz="1100" dirty="0"/>
          </a:p>
        </p:txBody>
      </p:sp>
      <p:sp>
        <p:nvSpPr>
          <p:cNvPr id="31" name="Shape 29"/>
          <p:cNvSpPr/>
          <p:nvPr/>
        </p:nvSpPr>
        <p:spPr>
          <a:xfrm>
            <a:off x="6080760" y="5166360"/>
            <a:ext cx="5257800" cy="1005840"/>
          </a:xfrm>
          <a:prstGeom prst="roundRect">
            <a:avLst>
              <a:gd name="adj" fmla="val 7273"/>
            </a:avLst>
          </a:prstGeom>
          <a:solidFill>
            <a:srgbClr val="E8A33D"/>
          </a:solidFill>
          <a:ln/>
        </p:spPr>
      </p:sp>
      <p:sp>
        <p:nvSpPr>
          <p:cNvPr id="32" name="Text 30"/>
          <p:cNvSpPr txBox="1"/>
          <p:nvPr/>
        </p:nvSpPr>
        <p:spPr>
          <a:xfrm>
            <a:off x="6263640" y="5257800"/>
            <a:ext cx="4892040" cy="822960"/>
          </a:xfrm>
          <a:prstGeom prst="rect">
            <a:avLst/>
          </a:prstGeom>
          <a:noFill/>
          <a:ln/>
        </p:spPr>
        <p:txBody>
          <a:bodyPr wrap="square" lIns="0" tIns="0" rIns="0" bIns="0" rtlCol="0" anchor="ctr"/>
          <a:lstStyle/>
          <a:p>
            <a:pPr indent="0" marL="0">
              <a:lnSpc>
                <a:spcPct val="120000"/>
              </a:lnSpc>
              <a:buNone/>
            </a:pPr>
            <a:r>
              <a:rPr lang="en-US" sz="1150" b="1" dirty="0">
                <a:solidFill>
                  <a:srgbClr val="1B2A4A"/>
                </a:solidFill>
                <a:latin typeface="Calibri" pitchFamily="34" charset="0"/>
                <a:ea typeface="Calibri" pitchFamily="34" charset="-122"/>
                <a:cs typeface="Calibri" pitchFamily="34" charset="-120"/>
              </a:rPr>
              <a:t>FinalGrade se mantiene separado como variable objetivo (y). Matriz de diseño resultante: 4,996 × 14.</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150" b="1" spc="200" kern="0" dirty="0">
                <a:solidFill>
                  <a:srgbClr val="C97F1E"/>
                </a:solidFill>
                <a:latin typeface="Calibri" pitchFamily="34" charset="0"/>
                <a:ea typeface="Calibri" pitchFamily="34" charset="-122"/>
                <a:cs typeface="Calibri" pitchFamily="34" charset="-120"/>
              </a:rPr>
              <a:t>05 · DATASET FINAL</a:t>
            </a:r>
            <a:endParaRPr lang="en-US" sz="1150" dirty="0"/>
          </a:p>
        </p:txBody>
      </p:sp>
      <p:sp>
        <p:nvSpPr>
          <p:cNvPr id="3" name="Text 1"/>
          <p:cNvSpPr txBox="1"/>
          <p:nvPr/>
        </p:nvSpPr>
        <p:spPr>
          <a:xfrm>
            <a:off x="548640" y="658368"/>
            <a:ext cx="106070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Estado final de la calidad de los datos</a:t>
            </a:r>
            <a:endParaRPr lang="en-US" sz="3000" dirty="0"/>
          </a:p>
        </p:txBody>
      </p:sp>
      <p:sp>
        <p:nvSpPr>
          <p:cNvPr id="4" name="Text 2"/>
          <p:cNvSpPr txBox="1"/>
          <p:nvPr/>
        </p:nvSpPr>
        <p:spPr>
          <a:xfrm>
            <a:off x="11002975" y="6473952"/>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14 / 15</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863840" cy="3931920"/>
        </p:xfrm>
        <a:graphic>
          <a:graphicData uri="http://schemas.openxmlformats.org/drawingml/2006/table">
            <a:tbl>
              <a:tblPr/>
              <a:tblGrid>
                <a:gridCol w="4023360"/>
                <a:gridCol w="1920240"/>
                <a:gridCol w="1920240"/>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Indicador</a:t>
                      </a:r>
                      <a:endParaRPr lang="en-US" sz="130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Original</a:t>
                      </a:r>
                      <a:endParaRPr lang="en-US" sz="130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Tratado</a:t>
                      </a:r>
                      <a:endParaRPr lang="en-US" sz="130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1B2A4A"/>
                    </a:solidFill>
                  </a:tcPr>
                </a:tc>
              </a:tr>
              <a:tr h="548640">
                <a:tc>
                  <a:txBody>
                    <a:bodyPr/>
                    <a:lstStyle/>
                    <a:p>
                      <a:pPr indent="0" marL="0">
                        <a:buNone/>
                      </a:pPr>
                      <a:r>
                        <a:rPr lang="en-US" sz="1250" dirty="0">
                          <a:solidFill>
                            <a:srgbClr val="1B2A4A"/>
                          </a:solidFill>
                          <a:latin typeface="Calibri" pitchFamily="34" charset="0"/>
                          <a:ea typeface="Calibri" pitchFamily="34" charset="-122"/>
                          <a:cs typeface="Calibri" pitchFamily="34" charset="-120"/>
                        </a:rPr>
                        <a:t>Cantidad de registros</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B6B82"/>
                          </a:solidFill>
                          <a:latin typeface="Calibri" pitchFamily="34" charset="0"/>
                          <a:ea typeface="Calibri" pitchFamily="34" charset="-122"/>
                          <a:cs typeface="Calibri" pitchFamily="34" charset="-120"/>
                        </a:rPr>
                        <a:t>5,100</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4A"/>
                          </a:solidFill>
                          <a:latin typeface="Calibri" pitchFamily="34" charset="0"/>
                          <a:ea typeface="Calibri" pitchFamily="34" charset="-122"/>
                          <a:cs typeface="Calibri" pitchFamily="34" charset="-120"/>
                        </a:rPr>
                        <a:t>4,996</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1B2A4A"/>
                          </a:solidFill>
                          <a:latin typeface="Calibri" pitchFamily="34" charset="0"/>
                          <a:ea typeface="Calibri" pitchFamily="34" charset="-122"/>
                          <a:cs typeface="Calibri" pitchFamily="34" charset="-120"/>
                        </a:rPr>
                        <a:t>Cantidad de variables</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EAF1F8"/>
                    </a:solidFill>
                  </a:tcPr>
                </a:tc>
                <a:tc>
                  <a:txBody>
                    <a:bodyPr/>
                    <a:lstStyle/>
                    <a:p>
                      <a:pPr algn="ctr" indent="0" marL="0">
                        <a:buNone/>
                      </a:pPr>
                      <a:r>
                        <a:rPr lang="en-US" sz="1250" dirty="0">
                          <a:solidFill>
                            <a:srgbClr val="5B6B82"/>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EAF1F8"/>
                    </a:solidFill>
                  </a:tcPr>
                </a:tc>
                <a:tc>
                  <a:txBody>
                    <a:bodyPr/>
                    <a:lstStyle/>
                    <a:p>
                      <a:pPr algn="ctr" indent="0" marL="0">
                        <a:buNone/>
                      </a:pPr>
                      <a:r>
                        <a:rPr lang="en-US" sz="1250" dirty="0">
                          <a:solidFill>
                            <a:srgbClr val="1B2A4A"/>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EAF1F8"/>
                    </a:solidFill>
                  </a:tcPr>
                </a:tc>
              </a:tr>
              <a:tr h="548640">
                <a:tc>
                  <a:txBody>
                    <a:bodyPr/>
                    <a:lstStyle/>
                    <a:p>
                      <a:pPr indent="0" marL="0">
                        <a:buNone/>
                      </a:pPr>
                      <a:r>
                        <a:rPr lang="en-US" sz="1250" dirty="0">
                          <a:solidFill>
                            <a:srgbClr val="1B2A4A"/>
                          </a:solidFill>
                          <a:latin typeface="Calibri" pitchFamily="34" charset="0"/>
                          <a:ea typeface="Calibri" pitchFamily="34" charset="-122"/>
                          <a:cs typeface="Calibri" pitchFamily="34" charset="-120"/>
                        </a:rPr>
                        <a:t>Valores faltantes</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B6B82"/>
                          </a:solidFill>
                          <a:latin typeface="Calibri" pitchFamily="34" charset="0"/>
                          <a:ea typeface="Calibri" pitchFamily="34" charset="-122"/>
                          <a:cs typeface="Calibri" pitchFamily="34" charset="-120"/>
                        </a:rPr>
                        <a:t>1,335</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3E8E5A"/>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1B2A4A"/>
                          </a:solidFill>
                          <a:latin typeface="Calibri" pitchFamily="34" charset="0"/>
                          <a:ea typeface="Calibri" pitchFamily="34" charset="-122"/>
                          <a:cs typeface="Calibri" pitchFamily="34" charset="-120"/>
                        </a:rPr>
                        <a:t>Registros duplicados</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EAF1F8"/>
                    </a:solidFill>
                  </a:tcPr>
                </a:tc>
                <a:tc>
                  <a:txBody>
                    <a:bodyPr/>
                    <a:lstStyle/>
                    <a:p>
                      <a:pPr algn="ctr" indent="0" marL="0">
                        <a:buNone/>
                      </a:pPr>
                      <a:r>
                        <a:rPr lang="en-US" sz="1250" dirty="0">
                          <a:solidFill>
                            <a:srgbClr val="5B6B82"/>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EAF1F8"/>
                    </a:solidFill>
                  </a:tcPr>
                </a:tc>
                <a:tc>
                  <a:txBody>
                    <a:bodyPr/>
                    <a:lstStyle/>
                    <a:p>
                      <a:pPr algn="ctr" indent="0" marL="0">
                        <a:buNone/>
                      </a:pPr>
                      <a:r>
                        <a:rPr lang="en-US" sz="1250" b="1" dirty="0">
                          <a:solidFill>
                            <a:srgbClr val="3E8E5A"/>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EAF1F8"/>
                    </a:solidFill>
                  </a:tcPr>
                </a:tc>
              </a:tr>
              <a:tr h="548640">
                <a:tc>
                  <a:txBody>
                    <a:bodyPr/>
                    <a:lstStyle/>
                    <a:p>
                      <a:pPr indent="0" marL="0">
                        <a:buNone/>
                      </a:pPr>
                      <a:r>
                        <a:rPr lang="en-US" sz="1250" dirty="0">
                          <a:solidFill>
                            <a:srgbClr val="1B2A4A"/>
                          </a:solidFill>
                          <a:latin typeface="Calibri" pitchFamily="34" charset="0"/>
                          <a:ea typeface="Calibri" pitchFamily="34" charset="-122"/>
                          <a:cs typeface="Calibri" pitchFamily="34" charset="-120"/>
                        </a:rPr>
                        <a:t>Inconsistencias</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B6B82"/>
                          </a:solidFill>
                          <a:latin typeface="Calibri" pitchFamily="34" charset="0"/>
                          <a:ea typeface="Calibri" pitchFamily="34" charset="-122"/>
                          <a:cs typeface="Calibri" pitchFamily="34" charset="-120"/>
                        </a:rPr>
                        <a:t>63</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3E8E5A"/>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1B2A4A"/>
                          </a:solidFill>
                          <a:latin typeface="Calibri" pitchFamily="34" charset="0"/>
                          <a:ea typeface="Calibri" pitchFamily="34" charset="-122"/>
                          <a:cs typeface="Calibri" pitchFamily="34" charset="-120"/>
                        </a:rPr>
                        <a:t>Outliers tratados (winsorizing)</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EAF1F8"/>
                    </a:solidFill>
                  </a:tcPr>
                </a:tc>
                <a:tc>
                  <a:txBody>
                    <a:bodyPr/>
                    <a:lstStyle/>
                    <a:p>
                      <a:pPr algn="ctr" indent="0" marL="0">
                        <a:buNone/>
                      </a:pPr>
                      <a:r>
                        <a:rPr lang="en-US" sz="1250" dirty="0">
                          <a:solidFill>
                            <a:srgbClr val="5B6B82"/>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EAF1F8"/>
                    </a:solidFill>
                  </a:tcPr>
                </a:tc>
                <a:tc>
                  <a:txBody>
                    <a:bodyPr/>
                    <a:lstStyle/>
                    <a:p>
                      <a:pPr algn="ctr" indent="0" marL="0">
                        <a:buNone/>
                      </a:pPr>
                      <a:r>
                        <a:rPr lang="en-US" sz="1250" b="1" dirty="0">
                          <a:solidFill>
                            <a:srgbClr val="3E8E5A"/>
                          </a:solidFill>
                          <a:latin typeface="Calibri" pitchFamily="34" charset="0"/>
                          <a:ea typeface="Calibri" pitchFamily="34" charset="-122"/>
                          <a:cs typeface="Calibri" pitchFamily="34" charset="-120"/>
                        </a:rPr>
                        <a:t>435</a:t>
                      </a:r>
                      <a:endParaRPr lang="en-US" sz="1250" dirty="0">
                        <a:latin typeface="Calibri" charset="0"/>
                        <a:ea typeface="Calibri" charset="0"/>
                        <a:cs typeface="Calibri" charset="0"/>
                      </a:endParaRPr>
                    </a:p>
                  </a:txBody>
                  <a:tcPr marL="91440" marR="91440" marT="45720" marB="45720" anchor="ctr">
                    <a:lnL w="9525" cap="flat" cmpd="sng" algn="ctr">
                      <a:solidFill>
                        <a:srgbClr val="D8E2EF"/>
                      </a:solidFill>
                      <a:prstDash val="solid"/>
                      <a:round/>
                      <a:headEnd type="none" w="med" len="med"/>
                      <a:tailEnd type="none" w="med" len="med"/>
                    </a:lnL>
                    <a:lnR w="9525" cap="flat" cmpd="sng" algn="ctr">
                      <a:solidFill>
                        <a:srgbClr val="D8E2EF"/>
                      </a:solidFill>
                      <a:prstDash val="solid"/>
                      <a:round/>
                      <a:headEnd type="none" w="med" len="med"/>
                      <a:tailEnd type="none" w="med" len="med"/>
                    </a:lnR>
                    <a:lnT w="9525" cap="flat" cmpd="sng" algn="ctr">
                      <a:solidFill>
                        <a:srgbClr val="D8E2EF"/>
                      </a:solidFill>
                      <a:prstDash val="solid"/>
                      <a:round/>
                      <a:headEnd type="none" w="med" len="med"/>
                      <a:tailEnd type="none" w="med" len="med"/>
                    </a:lnT>
                    <a:lnB w="9525" cap="flat" cmpd="sng" algn="ctr">
                      <a:solidFill>
                        <a:srgbClr val="D8E2EF"/>
                      </a:solidFill>
                      <a:prstDash val="solid"/>
                      <a:round/>
                      <a:headEnd type="none" w="med" len="med"/>
                      <a:tailEnd type="none" w="med" len="med"/>
                    </a:lnB>
                    <a:solidFill>
                      <a:srgbClr val="EAF1F8"/>
                    </a:solidFill>
                  </a:tcPr>
                </a:tc>
              </a:tr>
            </a:tbl>
          </a:graphicData>
        </a:graphic>
      </p:graphicFrame>
      <p:sp>
        <p:nvSpPr>
          <p:cNvPr id="6" name="Shape 3"/>
          <p:cNvSpPr/>
          <p:nvPr/>
        </p:nvSpPr>
        <p:spPr>
          <a:xfrm>
            <a:off x="8732520" y="1691640"/>
            <a:ext cx="2880360" cy="3931920"/>
          </a:xfrm>
          <a:prstGeom prst="roundRect">
            <a:avLst>
              <a:gd name="adj" fmla="val 3175"/>
            </a:avLst>
          </a:prstGeom>
          <a:solidFill>
            <a:srgbClr val="1B2A4A"/>
          </a:solidFill>
          <a:ln/>
        </p:spPr>
      </p:sp>
      <p:sp>
        <p:nvSpPr>
          <p:cNvPr id="7" name="Text 4"/>
          <p:cNvSpPr txBox="1"/>
          <p:nvPr/>
        </p:nvSpPr>
        <p:spPr>
          <a:xfrm>
            <a:off x="8961120" y="1874520"/>
            <a:ext cx="2423160" cy="320040"/>
          </a:xfrm>
          <a:prstGeom prst="rect">
            <a:avLst/>
          </a:prstGeom>
          <a:noFill/>
          <a:ln/>
        </p:spPr>
        <p:txBody>
          <a:bodyPr wrap="square" lIns="0" tIns="0" rIns="0" bIns="0" rtlCol="0" anchor="ctr"/>
          <a:lstStyle/>
          <a:p>
            <a:pPr indent="0" marL="0">
              <a:buNone/>
            </a:pPr>
            <a:r>
              <a:rPr lang="en-US" sz="1400" b="1" dirty="0">
                <a:solidFill>
                  <a:srgbClr val="E8A33D"/>
                </a:solidFill>
                <a:latin typeface="Cambria" pitchFamily="34" charset="0"/>
                <a:ea typeface="Cambria" pitchFamily="34" charset="-122"/>
                <a:cs typeface="Cambria" pitchFamily="34" charset="-120"/>
              </a:rPr>
              <a:t>Dataset final</a:t>
            </a:r>
            <a:endParaRPr lang="en-US" sz="1400" dirty="0"/>
          </a:p>
        </p:txBody>
      </p:sp>
      <p:sp>
        <p:nvSpPr>
          <p:cNvPr id="8" name="Text 5"/>
          <p:cNvSpPr txBox="1"/>
          <p:nvPr/>
        </p:nvSpPr>
        <p:spPr>
          <a:xfrm>
            <a:off x="8961120" y="2286000"/>
            <a:ext cx="242316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4,996 × 11</a:t>
            </a:r>
            <a:endParaRPr lang="en-US" sz="2600" dirty="0"/>
          </a:p>
        </p:txBody>
      </p:sp>
      <p:sp>
        <p:nvSpPr>
          <p:cNvPr id="9" name="Text 6"/>
          <p:cNvSpPr txBox="1"/>
          <p:nvPr/>
        </p:nvSpPr>
        <p:spPr>
          <a:xfrm>
            <a:off x="8961120" y="2880360"/>
            <a:ext cx="2423160" cy="731520"/>
          </a:xfrm>
          <a:prstGeom prst="rect">
            <a:avLst/>
          </a:prstGeom>
          <a:noFill/>
          <a:ln/>
        </p:spPr>
        <p:txBody>
          <a:bodyPr wrap="square" lIns="0" tIns="0" rIns="0" bIns="0" rtlCol="0" anchor="ctr"/>
          <a:lstStyle/>
          <a:p>
            <a:pPr indent="0" marL="0">
              <a:lnSpc>
                <a:spcPct val="120000"/>
              </a:lnSpc>
              <a:buNone/>
            </a:pPr>
            <a:r>
              <a:rPr lang="en-US" sz="1100" dirty="0">
                <a:solidFill>
                  <a:srgbClr val="B9CBE3"/>
                </a:solidFill>
                <a:latin typeface="Calibri" pitchFamily="34" charset="0"/>
                <a:ea typeface="Calibri" pitchFamily="34" charset="-122"/>
                <a:cs typeface="Calibri" pitchFamily="34" charset="-120"/>
              </a:rPr>
              <a:t>rendimiento_academico_limpio.csv</a:t>
            </a:r>
            <a:endParaRPr lang="en-US" sz="1100" dirty="0"/>
          </a:p>
        </p:txBody>
      </p:sp>
      <p:sp>
        <p:nvSpPr>
          <p:cNvPr id="10" name="Text 7"/>
          <p:cNvSpPr txBox="1"/>
          <p:nvPr/>
        </p:nvSpPr>
        <p:spPr>
          <a:xfrm>
            <a:off x="8961120" y="3794760"/>
            <a:ext cx="2423160" cy="1645920"/>
          </a:xfrm>
          <a:prstGeom prst="rect">
            <a:avLst/>
          </a:prstGeom>
          <a:noFill/>
          <a:ln/>
        </p:spPr>
        <p:txBody>
          <a:bodyPr wrap="square" lIns="0" tIns="0" rIns="0" bIns="0" rtlCol="0" anchor="ctr"/>
          <a:lstStyle/>
          <a:p>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Sin faltantes, sin duplicados, sin inconsistencias. Extremos acotados, no eliminados.</a:t>
            </a:r>
            <a:endParaRPr lang="en-US" sz="1150" dirty="0"/>
          </a:p>
        </p:txBody>
      </p:sp>
      <p:sp>
        <p:nvSpPr>
          <p:cNvPr id="11" name="Text 8"/>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150" i="1" dirty="0">
                <a:solidFill>
                  <a:srgbClr val="5B6B82"/>
                </a:solidFill>
                <a:latin typeface="Calibri" pitchFamily="34" charset="0"/>
                <a:ea typeface="Calibri" pitchFamily="34" charset="-122"/>
                <a:cs typeface="Calibri" pitchFamily="34" charset="-120"/>
              </a:rPr>
              <a:t>El proceso es reproducible: se puede volver a ejecutar sobre el CSV original y obtener el mismo resultado tratado.</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2286000" y="-2286000"/>
            <a:ext cx="5943600" cy="5943600"/>
          </a:xfrm>
          <a:prstGeom prst="ellipse">
            <a:avLst/>
          </a:prstGeom>
          <a:solidFill>
            <a:srgbClr val="E8A33D">
              <a:alpha val="12000"/>
            </a:srgbClr>
          </a:solidFill>
          <a:ln/>
        </p:spPr>
      </p:sp>
      <p:sp>
        <p:nvSpPr>
          <p:cNvPr id="3" name="Shape 1"/>
          <p:cNvSpPr/>
          <p:nvPr/>
        </p:nvSpPr>
        <p:spPr>
          <a:xfrm>
            <a:off x="9144000" y="3474720"/>
            <a:ext cx="5029200" cy="5029200"/>
          </a:xfrm>
          <a:prstGeom prst="ellipse">
            <a:avLst/>
          </a:prstGeom>
          <a:solidFill>
            <a:srgbClr val="3E7CB1">
              <a:alpha val="22000"/>
            </a:srgbClr>
          </a:solidFill>
          <a:ln/>
        </p:spPr>
      </p:sp>
      <p:sp>
        <p:nvSpPr>
          <p:cNvPr id="4" name="Text 2"/>
          <p:cNvSpPr txBox="1"/>
          <p:nvPr/>
        </p:nvSpPr>
        <p:spPr>
          <a:xfrm>
            <a:off x="822960" y="2468880"/>
            <a:ext cx="9144000" cy="118872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Gracias</a:t>
            </a:r>
            <a:endParaRPr lang="en-US" sz="5200" dirty="0"/>
          </a:p>
        </p:txBody>
      </p:sp>
      <p:sp>
        <p:nvSpPr>
          <p:cNvPr id="5" name="Text 3"/>
          <p:cNvSpPr txBox="1"/>
          <p:nvPr/>
        </p:nvSpPr>
        <p:spPr>
          <a:xfrm>
            <a:off x="868680" y="3520440"/>
            <a:ext cx="9144000" cy="548640"/>
          </a:xfrm>
          <a:prstGeom prst="rect">
            <a:avLst/>
          </a:prstGeom>
          <a:noFill/>
          <a:ln/>
        </p:spPr>
        <p:txBody>
          <a:bodyPr wrap="square" lIns="0" tIns="0" rIns="0" bIns="0" rtlCol="0" anchor="ctr"/>
          <a:lstStyle/>
          <a:p>
            <a:pPr indent="0" marL="0">
              <a:buNone/>
            </a:pPr>
            <a:r>
              <a:rPr lang="en-US" sz="1700" dirty="0">
                <a:solidFill>
                  <a:srgbClr val="E8A33D"/>
                </a:solidFill>
                <a:latin typeface="Calibri" pitchFamily="34" charset="0"/>
                <a:ea typeface="Calibri" pitchFamily="34" charset="-122"/>
                <a:cs typeface="Calibri" pitchFamily="34" charset="-120"/>
              </a:rPr>
              <a:t>Dataset limpio, diagnosticado, explorado y reproducible — listo para modelar.</a:t>
            </a:r>
            <a:endParaRPr lang="en-US" sz="1700" dirty="0"/>
          </a:p>
        </p:txBody>
      </p:sp>
      <p:sp>
        <p:nvSpPr>
          <p:cNvPr id="6" name="Text 4"/>
          <p:cNvSpPr txBox="1"/>
          <p:nvPr/>
        </p:nvSpPr>
        <p:spPr>
          <a:xfrm>
            <a:off x="868680" y="4114800"/>
            <a:ext cx="9144000" cy="457200"/>
          </a:xfrm>
          <a:prstGeom prst="rect">
            <a:avLst/>
          </a:prstGeom>
          <a:noFill/>
          <a:ln/>
        </p:spPr>
        <p:txBody>
          <a:bodyPr wrap="square" lIns="0" tIns="0" rIns="0" bIns="0" rtlCol="0" anchor="ctr"/>
          <a:lstStyle/>
          <a:p>
            <a:pPr indent="0" marL="0">
              <a:buNone/>
            </a:pPr>
            <a:r>
              <a:rPr lang="en-US" sz="1300" dirty="0">
                <a:solidFill>
                  <a:srgbClr val="EAF1F8"/>
                </a:solidFill>
                <a:latin typeface="Calibri" pitchFamily="34" charset="0"/>
                <a:ea typeface="Calibri" pitchFamily="34" charset="-122"/>
                <a:cs typeface="Calibri" pitchFamily="34" charset="-120"/>
              </a:rPr>
              <a:t>Preguntas y comentarios son bienvenidos.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2026-09-04T10:11:58Z</dcterms:created>
  <dcterms:modified xsi:type="dcterms:W3CDTF">2026-09-04T10:11:58Z</dcterms:modified>
</cp:coreProperties>
</file>